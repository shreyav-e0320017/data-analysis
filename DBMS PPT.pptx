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7" r:id="rId2"/>
    <p:sldId id="267" r:id="rId3"/>
    <p:sldId id="258" r:id="rId4"/>
    <p:sldId id="263" r:id="rId5"/>
    <p:sldId id="269" r:id="rId6"/>
    <p:sldId id="268" r:id="rId7"/>
    <p:sldId id="271" r:id="rId8"/>
    <p:sldId id="284" r:id="rId9"/>
    <p:sldId id="285" r:id="rId10"/>
    <p:sldId id="259" r:id="rId11"/>
    <p:sldId id="277" r:id="rId12"/>
    <p:sldId id="260" r:id="rId13"/>
    <p:sldId id="280" r:id="rId14"/>
    <p:sldId id="262" r:id="rId15"/>
    <p:sldId id="278" r:id="rId16"/>
    <p:sldId id="279" r:id="rId17"/>
    <p:sldId id="282" r:id="rId18"/>
    <p:sldId id="281" r:id="rId19"/>
    <p:sldId id="283" r:id="rId20"/>
    <p:sldId id="275" r:id="rId21"/>
    <p:sldId id="274" r:id="rId22"/>
    <p:sldId id="2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000F1A-28DE-4CA2-8098-BFEC0118DFEC}" type="datetimeFigureOut">
              <a:rPr lang="en-US" smtClean="0"/>
              <a:pPr/>
              <a:t>2/24/2021</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364F2BE-A437-46EA-8C94-7B9678D65EBD}" type="slidenum">
              <a:rPr lang="en-IN" smtClean="0"/>
              <a:pPr/>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dirty="0"/>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1" y="3539865"/>
            <a:ext cx="5114779"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2DC2EB53-DC57-4228-94B0-3090A6A38264}" type="datetime1">
              <a:rPr lang="en-US" smtClean="0"/>
              <a:pPr/>
              <a:t>2/24/2021</a:t>
            </a:fld>
            <a:endParaRPr lang="en-US" dirty="0"/>
          </a:p>
        </p:txBody>
      </p:sp>
      <p:sp>
        <p:nvSpPr>
          <p:cNvPr id="18" name="Footer Placeholder 17"/>
          <p:cNvSpPr>
            <a:spLocks noGrp="1"/>
          </p:cNvSpPr>
          <p:nvPr>
            <p:ph type="ftr" sz="quarter" idx="11"/>
          </p:nvPr>
        </p:nvSpPr>
        <p:spPr>
          <a:xfrm>
            <a:off x="2819400" y="6557946"/>
            <a:ext cx="2927723" cy="228600"/>
          </a:xfrm>
        </p:spPr>
        <p:txBody>
          <a:bodyPr/>
          <a:lstStyle>
            <a:lvl1pPr>
              <a:defRPr lang="en-US" dirty="0">
                <a:solidFill>
                  <a:srgbClr val="FFFFFF"/>
                </a:solidFill>
              </a:defRPr>
            </a:lvl1pPr>
            <a:extLst/>
          </a:lstStyle>
          <a:p>
            <a:r>
              <a:rPr lang="en-US" dirty="0" smtClean="0"/>
              <a:t>DBMS PROJECT </a:t>
            </a:r>
            <a:endParaRPr lang="en-US" dirty="0"/>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21F1FF5-9D8D-455E-9425-C3B9168FB28C}" type="datetime1">
              <a:rPr lang="en-US" smtClean="0"/>
              <a:pPr/>
              <a:t>2/24/2021</a:t>
            </a:fld>
            <a:endParaRPr lang="en-US" dirty="0"/>
          </a:p>
        </p:txBody>
      </p:sp>
      <p:sp>
        <p:nvSpPr>
          <p:cNvPr id="5" name="Footer Placeholder 4"/>
          <p:cNvSpPr>
            <a:spLocks noGrp="1"/>
          </p:cNvSpPr>
          <p:nvPr>
            <p:ph type="ftr" sz="quarter" idx="11"/>
          </p:nvPr>
        </p:nvSpPr>
        <p:spPr/>
        <p:txBody>
          <a:bodyPr/>
          <a:lstStyle>
            <a:extLst/>
          </a:lstStyle>
          <a:p>
            <a:r>
              <a:rPr lang="en-US" dirty="0" smtClean="0"/>
              <a:t>DBMS PROJECT </a:t>
            </a:r>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8"/>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1"/>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9" y="6556810"/>
            <a:ext cx="2002464" cy="226902"/>
          </a:xfrm>
        </p:spPr>
        <p:txBody>
          <a:bodyPr bIns="0" anchor="b"/>
          <a:lstStyle>
            <a:lvl1pPr>
              <a:defRPr>
                <a:solidFill>
                  <a:schemeClr val="tx2"/>
                </a:solidFill>
              </a:defRPr>
            </a:lvl1pPr>
            <a:extLst/>
          </a:lstStyle>
          <a:p>
            <a:fld id="{0CB2F278-BF57-4F82-A732-8D14C1B9876E}" type="datetime1">
              <a:rPr lang="en-US" smtClean="0"/>
              <a:pPr/>
              <a:t>2/24/2021</a:t>
            </a:fld>
            <a:endParaRPr lang="en-US" dirty="0"/>
          </a:p>
        </p:txBody>
      </p:sp>
      <p:sp>
        <p:nvSpPr>
          <p:cNvPr id="5" name="Footer Placeholder 4"/>
          <p:cNvSpPr>
            <a:spLocks noGrp="1"/>
          </p:cNvSpPr>
          <p:nvPr>
            <p:ph type="ftr" sz="quarter" idx="11"/>
          </p:nvPr>
        </p:nvSpPr>
        <p:spPr>
          <a:xfrm>
            <a:off x="1735359" y="6556810"/>
            <a:ext cx="2895600" cy="228600"/>
          </a:xfrm>
        </p:spPr>
        <p:txBody>
          <a:bodyPr bIns="0" anchor="b"/>
          <a:lstStyle>
            <a:lvl1pPr>
              <a:defRPr>
                <a:solidFill>
                  <a:schemeClr val="tx2"/>
                </a:solidFill>
              </a:defRPr>
            </a:lvl1pPr>
            <a:extLst/>
          </a:lstStyle>
          <a:p>
            <a:r>
              <a:rPr lang="en-US" dirty="0" smtClean="0"/>
              <a:t>DBMS PROJECT </a:t>
            </a:r>
            <a:endParaRPr lang="en-US" dirty="0"/>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1"/>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1"/>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79278DD-D2D1-4963-807D-D94D7555E604}" type="datetime1">
              <a:rPr lang="en-US" smtClean="0"/>
              <a:pPr/>
              <a:t>2/24/2021</a:t>
            </a:fld>
            <a:endParaRPr lang="en-US" dirty="0"/>
          </a:p>
        </p:txBody>
      </p:sp>
      <p:sp>
        <p:nvSpPr>
          <p:cNvPr id="6" name="Footer Placeholder 5"/>
          <p:cNvSpPr>
            <a:spLocks noGrp="1"/>
          </p:cNvSpPr>
          <p:nvPr>
            <p:ph type="ftr" sz="quarter" idx="11"/>
          </p:nvPr>
        </p:nvSpPr>
        <p:spPr/>
        <p:txBody>
          <a:bodyPr/>
          <a:lstStyle>
            <a:extLst/>
          </a:lstStyle>
          <a:p>
            <a:r>
              <a:rPr lang="en-US" dirty="0" smtClean="0"/>
              <a:t>DBMS PROJECT </a:t>
            </a:r>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1620316-98D6-486E-A469-3200414A50AD}" type="datetime1">
              <a:rPr lang="en-US" smtClean="0"/>
              <a:pPr/>
              <a:t>2/24/2021</a:t>
            </a:fld>
            <a:endParaRPr lang="en-US" dirty="0"/>
          </a:p>
        </p:txBody>
      </p:sp>
      <p:sp>
        <p:nvSpPr>
          <p:cNvPr id="8" name="Footer Placeholder 7"/>
          <p:cNvSpPr>
            <a:spLocks noGrp="1"/>
          </p:cNvSpPr>
          <p:nvPr>
            <p:ph type="ftr" sz="quarter" idx="11"/>
          </p:nvPr>
        </p:nvSpPr>
        <p:spPr/>
        <p:txBody>
          <a:bodyPr/>
          <a:lstStyle>
            <a:extLst/>
          </a:lstStyle>
          <a:p>
            <a:r>
              <a:rPr lang="en-US" dirty="0" smtClean="0"/>
              <a:t>DBMS PROJECT </a:t>
            </a:r>
            <a:endParaRPr lang="en-US" dirty="0"/>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55BFA7A0-62E1-4A73-A20B-D5F4177BABD6}" type="datetime1">
              <a:rPr lang="en-US" smtClean="0"/>
              <a:pPr/>
              <a:t>2/24/2021</a:t>
            </a:fld>
            <a:endParaRPr lang="en-US" dirty="0"/>
          </a:p>
        </p:txBody>
      </p:sp>
      <p:sp>
        <p:nvSpPr>
          <p:cNvPr id="4" name="Footer Placeholder 3"/>
          <p:cNvSpPr>
            <a:spLocks noGrp="1"/>
          </p:cNvSpPr>
          <p:nvPr>
            <p:ph type="ftr" sz="quarter" idx="11"/>
          </p:nvPr>
        </p:nvSpPr>
        <p:spPr/>
        <p:txBody>
          <a:bodyPr/>
          <a:lstStyle>
            <a:extLst/>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ECE0F3F-81F0-43F2-9EDD-A3E507395D13}" type="datetime1">
              <a:rPr lang="en-US" smtClean="0"/>
              <a:pPr/>
              <a:t>2/24/2021</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extLst/>
          </a:lstStyle>
          <a:p>
            <a:r>
              <a:rPr lang="en-US" dirty="0" smtClean="0"/>
              <a:t>DBMS PROJECT </a:t>
            </a:r>
            <a:endParaRPr lang="en-US" dirty="0"/>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7"/>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1"/>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05A189F3-9996-4458-88F5-268342B2B7AF}" type="datetime1">
              <a:rPr lang="en-US" smtClean="0"/>
              <a:pPr/>
              <a:t>2/24/2021</a:t>
            </a:fld>
            <a:endParaRPr lang="en-US" dirty="0"/>
          </a:p>
        </p:txBody>
      </p:sp>
      <p:sp>
        <p:nvSpPr>
          <p:cNvPr id="6" name="Footer Placeholder 5"/>
          <p:cNvSpPr>
            <a:spLocks noGrp="1"/>
          </p:cNvSpPr>
          <p:nvPr>
            <p:ph type="ftr" sz="quarter" idx="11"/>
          </p:nvPr>
        </p:nvSpPr>
        <p:spPr/>
        <p:txBody>
          <a:bodyPr/>
          <a:lstStyle>
            <a:extLst/>
          </a:lstStyle>
          <a:p>
            <a:r>
              <a:rPr lang="en-US" dirty="0" smtClean="0"/>
              <a:t>DBMS PROJECT </a:t>
            </a:r>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rot="21240000">
            <a:off x="597970" y="1004669"/>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9" name="Rectangle 8"/>
          <p:cNvSpPr/>
          <p:nvPr/>
        </p:nvSpPr>
        <p:spPr>
          <a:xfrm rot="21420000">
            <a:off x="596707" y="998817"/>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dirty="0"/>
          </a:p>
        </p:txBody>
      </p:sp>
      <p:sp>
        <p:nvSpPr>
          <p:cNvPr id="2" name="Title 1"/>
          <p:cNvSpPr>
            <a:spLocks noGrp="1"/>
          </p:cNvSpPr>
          <p:nvPr>
            <p:ph type="title"/>
          </p:nvPr>
        </p:nvSpPr>
        <p:spPr>
          <a:xfrm>
            <a:off x="5389099"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9"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ED56BB01-E204-4D0E-93D0-99205CE4F978}" type="datetime1">
              <a:rPr lang="en-US" smtClean="0"/>
              <a:pPr/>
              <a:t>2/24/2021</a:t>
            </a:fld>
            <a:endParaRPr lang="en-US" dirty="0"/>
          </a:p>
        </p:txBody>
      </p:sp>
      <p:sp>
        <p:nvSpPr>
          <p:cNvPr id="6" name="Footer Placeholder 5"/>
          <p:cNvSpPr>
            <a:spLocks noGrp="1"/>
          </p:cNvSpPr>
          <p:nvPr>
            <p:ph type="ftr" sz="quarter" idx="11"/>
          </p:nvPr>
        </p:nvSpPr>
        <p:spPr/>
        <p:txBody>
          <a:bodyPr/>
          <a:lstStyle>
            <a:extLst/>
          </a:lstStyle>
          <a:p>
            <a:r>
              <a:rPr lang="en-US" dirty="0" smtClean="0"/>
              <a:t>DBMS PROJECT </a:t>
            </a:r>
            <a:endParaRPr lang="en-US" dirty="0"/>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dirty="0"/>
          </a:p>
        </p:txBody>
      </p:sp>
      <p:sp>
        <p:nvSpPr>
          <p:cNvPr id="10" name="Picture Placeholder 9"/>
          <p:cNvSpPr>
            <a:spLocks noGrp="1"/>
          </p:cNvSpPr>
          <p:nvPr>
            <p:ph type="pic" idx="1"/>
          </p:nvPr>
        </p:nvSpPr>
        <p:spPr>
          <a:xfrm>
            <a:off x="663683"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dirty="0"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DBFD6ACD-004E-4564-B8B1-9A4F40EB8169}" type="datetime1">
              <a:rPr lang="en-US" smtClean="0"/>
              <a:pPr/>
              <a:t>2/24/2021</a:t>
            </a:fld>
            <a:endParaRPr lang="en-US" dirty="0"/>
          </a:p>
        </p:txBody>
      </p:sp>
      <p:sp>
        <p:nvSpPr>
          <p:cNvPr id="5" name="Footer Placeholder 4"/>
          <p:cNvSpPr>
            <a:spLocks noGrp="1"/>
          </p:cNvSpPr>
          <p:nvPr>
            <p:ph type="ftr" sz="quarter" idx="11"/>
          </p:nvPr>
        </p:nvSpPr>
        <p:spPr/>
        <p:txBody>
          <a:bodyPr/>
          <a:lstStyle>
            <a:extLst/>
          </a:lstStyle>
          <a:p>
            <a:r>
              <a:rPr lang="en-US" dirty="0" smtClean="0"/>
              <a:t>DBMS PROJECT </a:t>
            </a:r>
            <a:endParaRPr lang="en-US" dirty="0"/>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6"/>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3"/>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75EF4BD6-E3E9-4ED1-AA55-0B1AAB7D9687}" type="datetime1">
              <a:rPr lang="en-US" smtClean="0"/>
              <a:pPr/>
              <a:t>2/24/2021</a:t>
            </a:fld>
            <a:endParaRPr lang="en-US" dirty="0"/>
          </a:p>
        </p:txBody>
      </p:sp>
      <p:sp>
        <p:nvSpPr>
          <p:cNvPr id="5" name="Footer Placeholder 4"/>
          <p:cNvSpPr>
            <a:spLocks noGrp="1"/>
          </p:cNvSpPr>
          <p:nvPr>
            <p:ph type="ftr" sz="quarter" idx="11"/>
          </p:nvPr>
        </p:nvSpPr>
        <p:spPr>
          <a:xfrm>
            <a:off x="457200" y="6556248"/>
            <a:ext cx="3657600" cy="228600"/>
          </a:xfrm>
        </p:spPr>
        <p:txBody>
          <a:bodyPr/>
          <a:lstStyle>
            <a:extLst/>
          </a:lstStyle>
          <a:p>
            <a:r>
              <a:rPr lang="en-US" dirty="0" smtClean="0"/>
              <a:t>DBMS PROJECT </a:t>
            </a:r>
            <a:endParaRPr lang="en-US" dirty="0"/>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39FEA51F-4470-4593-978F-277218E3CC3E}" type="datetime1">
              <a:rPr lang="en-US" smtClean="0"/>
              <a:pPr/>
              <a:t>2/24/2021</a:t>
            </a:fld>
            <a:endParaRPr lang="en-US" dirty="0"/>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r>
              <a:rPr lang="en-US" dirty="0" smtClean="0"/>
              <a:t>DBMS PROJECT </a:t>
            </a:r>
            <a:endParaRPr lang="en-US" dirty="0"/>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229600" cy="1143000"/>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IN" sz="4000" u="sng" dirty="0" smtClean="0">
                <a:solidFill>
                  <a:schemeClr val="bg1"/>
                </a:solidFill>
                <a:latin typeface="Times New Roman" pitchFamily="18" charset="0"/>
                <a:cs typeface="Times New Roman" pitchFamily="18" charset="0"/>
              </a:rPr>
              <a:t>Bloodbank  management system</a:t>
            </a:r>
            <a:endParaRPr lang="en-IN" sz="4000" u="sng" dirty="0">
              <a:solidFill>
                <a:schemeClr val="bg1"/>
              </a:solidFill>
              <a:latin typeface="Times New Roman" pitchFamily="18" charset="0"/>
              <a:cs typeface="Times New Roman" pitchFamily="18" charset="0"/>
            </a:endParaRPr>
          </a:p>
        </p:txBody>
      </p:sp>
      <p:sp>
        <p:nvSpPr>
          <p:cNvPr id="4" name="Content Placeholder 3"/>
          <p:cNvSpPr>
            <a:spLocks noGrp="1"/>
          </p:cNvSpPr>
          <p:nvPr>
            <p:ph sz="half" idx="2"/>
          </p:nvPr>
        </p:nvSpPr>
        <p:spPr>
          <a:ln>
            <a:noFill/>
          </a:ln>
          <a:effectLst>
            <a:outerShdw blurRad="127000" dist="38100" dir="2700000" algn="ctr">
              <a:srgbClr val="000000">
                <a:alpha val="45000"/>
              </a:srgbClr>
            </a:outerShdw>
          </a:effectLst>
          <a:scene3d>
            <a:camera prst="perspectiveFront" fov="2700000">
              <a:rot lat="20376000" lon="1938000" rev="20112001"/>
            </a:camera>
            <a:lightRig rig="soft" dir="t">
              <a:rot lat="0" lon="0" rev="0"/>
            </a:lightRig>
          </a:scene3d>
          <a:sp3d prstMaterial="translucentPowder">
            <a:bevelT w="203200" h="50800" prst="softRound"/>
          </a:sp3d>
        </p:spPr>
        <p:style>
          <a:lnRef idx="2">
            <a:schemeClr val="accent1">
              <a:shade val="50000"/>
            </a:schemeClr>
          </a:lnRef>
          <a:fillRef idx="1">
            <a:schemeClr val="accent1"/>
          </a:fillRef>
          <a:effectRef idx="0">
            <a:schemeClr val="accent1"/>
          </a:effectRef>
          <a:fontRef idx="minor">
            <a:schemeClr val="lt1"/>
          </a:fontRef>
        </p:style>
        <p:txBody>
          <a:bodyPr/>
          <a:lstStyle/>
          <a:p>
            <a:pPr>
              <a:buNone/>
            </a:pPr>
            <a:endParaRPr lang="en-IN" b="1" u="sng" dirty="0" smtClean="0">
              <a:latin typeface="Times New Roman" pitchFamily="18" charset="0"/>
              <a:cs typeface="Times New Roman" pitchFamily="18" charset="0"/>
            </a:endParaRPr>
          </a:p>
          <a:p>
            <a:pPr>
              <a:buNone/>
            </a:pPr>
            <a:endParaRPr lang="en-IN" b="1" u="sng" dirty="0" smtClean="0">
              <a:latin typeface="Times New Roman" pitchFamily="18" charset="0"/>
              <a:cs typeface="Times New Roman" pitchFamily="18" charset="0"/>
            </a:endParaRPr>
          </a:p>
          <a:p>
            <a:pPr>
              <a:buNone/>
            </a:pPr>
            <a:r>
              <a:rPr lang="en-IN" b="1" u="sng" dirty="0" smtClean="0">
                <a:solidFill>
                  <a:srgbClr val="002060"/>
                </a:solidFill>
                <a:latin typeface="Times New Roman" pitchFamily="18" charset="0"/>
                <a:cs typeface="Times New Roman" pitchFamily="18" charset="0"/>
              </a:rPr>
              <a:t>DONE BY:</a:t>
            </a:r>
          </a:p>
          <a:p>
            <a:pPr>
              <a:buNone/>
            </a:pPr>
            <a:r>
              <a:rPr lang="en-IN" b="1" i="1" dirty="0" smtClean="0">
                <a:solidFill>
                  <a:srgbClr val="002060"/>
                </a:solidFill>
                <a:latin typeface="Times New Roman" pitchFamily="18" charset="0"/>
                <a:cs typeface="Times New Roman" pitchFamily="18" charset="0"/>
              </a:rPr>
              <a:t>SHREYA V</a:t>
            </a:r>
          </a:p>
          <a:p>
            <a:pPr>
              <a:buNone/>
            </a:pPr>
            <a:r>
              <a:rPr lang="en-IN" b="1" i="1" dirty="0" smtClean="0">
                <a:solidFill>
                  <a:srgbClr val="002060"/>
                </a:solidFill>
                <a:latin typeface="Times New Roman" pitchFamily="18" charset="0"/>
                <a:cs typeface="Times New Roman" pitchFamily="18" charset="0"/>
              </a:rPr>
              <a:t>SWARNAA SHREE P</a:t>
            </a:r>
          </a:p>
          <a:p>
            <a:pPr>
              <a:buNone/>
            </a:pPr>
            <a:r>
              <a:rPr lang="en-IN" b="1" i="1" dirty="0" smtClean="0">
                <a:solidFill>
                  <a:srgbClr val="002060"/>
                </a:solidFill>
                <a:latin typeface="Times New Roman" pitchFamily="18" charset="0"/>
                <a:cs typeface="Times New Roman" pitchFamily="18" charset="0"/>
              </a:rPr>
              <a:t>DHAMINI CH</a:t>
            </a:r>
          </a:p>
          <a:p>
            <a:pPr>
              <a:buNone/>
            </a:pPr>
            <a:endParaRPr lang="en-IN" b="1" u="sng" dirty="0" smtClean="0"/>
          </a:p>
          <a:p>
            <a:pPr>
              <a:buNone/>
            </a:pPr>
            <a:endParaRPr lang="en-IN" b="1" u="sng" dirty="0" smtClean="0"/>
          </a:p>
          <a:p>
            <a:pPr>
              <a:buNone/>
            </a:pPr>
            <a:endParaRPr lang="en-IN" b="1" u="sng" dirty="0" smtClean="0">
              <a:latin typeface="High Tower Text" pitchFamily="18" charset="0"/>
            </a:endParaRPr>
          </a:p>
          <a:p>
            <a:pPr>
              <a:buNone/>
            </a:pPr>
            <a:endParaRPr lang="en-IN" b="1" u="sng" dirty="0" smtClean="0">
              <a:latin typeface="High Tower Text" pitchFamily="18" charset="0"/>
            </a:endParaRPr>
          </a:p>
          <a:p>
            <a:endParaRPr lang="en-IN" b="1" u="sng"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026" name="Picture 2" descr="Image result for bloodbank mangement system dbms"/>
          <p:cNvPicPr>
            <a:picLocks noChangeAspect="1" noChangeArrowheads="1"/>
          </p:cNvPicPr>
          <p:nvPr/>
        </p:nvPicPr>
        <p:blipFill>
          <a:blip r:embed="rId2" cstate="print"/>
          <a:srcRect b="5882"/>
          <a:stretch>
            <a:fillRect/>
          </a:stretch>
        </p:blipFill>
        <p:spPr bwMode="auto">
          <a:xfrm>
            <a:off x="838200" y="2286000"/>
            <a:ext cx="2914651" cy="2743200"/>
          </a:xfrm>
          <a:prstGeom prst="rect">
            <a:avLst/>
          </a:prstGeom>
          <a:noFill/>
        </p:spPr>
      </p:pic>
      <p:sp>
        <p:nvSpPr>
          <p:cNvPr id="8" name="Footer Placeholder 7"/>
          <p:cNvSpPr>
            <a:spLocks noGrp="1"/>
          </p:cNvSpPr>
          <p:nvPr>
            <p:ph type="ftr" sz="quarter" idx="11"/>
          </p:nvPr>
        </p:nvSpPr>
        <p:spPr/>
        <p:txBody>
          <a:bodyPr/>
          <a:lstStyle/>
          <a:p>
            <a:r>
              <a:rPr lang="en-US" dirty="0" smtClean="0"/>
              <a:t>DBMS PROJECT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305800" cy="1143000"/>
          </a:xfrm>
        </p:spPr>
        <p:style>
          <a:lnRef idx="1">
            <a:schemeClr val="accent1"/>
          </a:lnRef>
          <a:fillRef idx="2">
            <a:schemeClr val="accent1"/>
          </a:fillRef>
          <a:effectRef idx="1">
            <a:schemeClr val="accent1"/>
          </a:effectRef>
          <a:fontRef idx="minor">
            <a:schemeClr val="dk1"/>
          </a:fontRef>
        </p:style>
        <p:txBody>
          <a:bodyPr/>
          <a:lstStyle/>
          <a:p>
            <a:pPr algn="ctr"/>
            <a:r>
              <a:rPr lang="en-IN" u="sng" dirty="0" smtClean="0">
                <a:solidFill>
                  <a:srgbClr val="002060"/>
                </a:solidFill>
                <a:latin typeface="Times New Roman" pitchFamily="18" charset="0"/>
                <a:cs typeface="Times New Roman" pitchFamily="18" charset="0"/>
              </a:rPr>
              <a:t>PLAN OF THE TALK</a:t>
            </a:r>
            <a:endParaRPr lang="en-IN" dirty="0">
              <a:solidFill>
                <a:srgbClr val="002060"/>
              </a:solidFill>
            </a:endParaRPr>
          </a:p>
        </p:txBody>
      </p:sp>
      <p:sp>
        <p:nvSpPr>
          <p:cNvPr id="3" name="Content Placeholder 2"/>
          <p:cNvSpPr>
            <a:spLocks noGrp="1"/>
          </p:cNvSpPr>
          <p:nvPr>
            <p:ph sz="half" idx="1"/>
          </p:nvPr>
        </p:nvSpPr>
        <p:spPr>
          <a:xfrm>
            <a:off x="457200" y="2133601"/>
            <a:ext cx="4038600" cy="3886200"/>
          </a:xfrm>
        </p:spPr>
        <p:style>
          <a:lnRef idx="2">
            <a:schemeClr val="accent1">
              <a:shade val="50000"/>
            </a:schemeClr>
          </a:lnRef>
          <a:fillRef idx="1">
            <a:schemeClr val="accent1"/>
          </a:fillRef>
          <a:effectRef idx="0">
            <a:schemeClr val="accent1"/>
          </a:effectRef>
          <a:fontRef idx="minor">
            <a:schemeClr val="lt1"/>
          </a:fontRef>
        </p:style>
        <p:txBody>
          <a:bodyPr>
            <a:normAutofit lnSpcReduction="10000"/>
          </a:bodyPr>
          <a:lstStyle/>
          <a:p>
            <a:pPr>
              <a:buFont typeface="Wingdings" pitchFamily="2" charset="2"/>
              <a:buChar char="v"/>
            </a:pPr>
            <a:r>
              <a:rPr lang="en-IN" sz="2400" i="1" dirty="0" smtClean="0">
                <a:solidFill>
                  <a:srgbClr val="002060"/>
                </a:solidFill>
                <a:latin typeface="Algerian" pitchFamily="82" charset="0"/>
                <a:cs typeface="Times New Roman" pitchFamily="18" charset="0"/>
              </a:rPr>
              <a:t>Introduction</a:t>
            </a:r>
          </a:p>
          <a:p>
            <a:pPr>
              <a:buFont typeface="Wingdings" pitchFamily="2" charset="2"/>
              <a:buChar char="v"/>
            </a:pPr>
            <a:r>
              <a:rPr lang="en-IN" sz="2400" i="1" dirty="0" smtClean="0">
                <a:solidFill>
                  <a:srgbClr val="002060"/>
                </a:solidFill>
                <a:latin typeface="Algerian" pitchFamily="82" charset="0"/>
                <a:cs typeface="Times New Roman" pitchFamily="18" charset="0"/>
              </a:rPr>
              <a:t>Problem Statement</a:t>
            </a:r>
          </a:p>
          <a:p>
            <a:pPr>
              <a:buFont typeface="Wingdings" pitchFamily="2" charset="2"/>
              <a:buChar char="v"/>
            </a:pPr>
            <a:r>
              <a:rPr lang="en-IN" sz="2400" i="1" dirty="0" smtClean="0">
                <a:solidFill>
                  <a:srgbClr val="002060"/>
                </a:solidFill>
                <a:latin typeface="Algerian" pitchFamily="82" charset="0"/>
                <a:cs typeface="Times New Roman" pitchFamily="18" charset="0"/>
              </a:rPr>
              <a:t>SOLUTION</a:t>
            </a:r>
          </a:p>
          <a:p>
            <a:pPr>
              <a:buFont typeface="Wingdings" pitchFamily="2" charset="2"/>
              <a:buChar char="v"/>
            </a:pPr>
            <a:r>
              <a:rPr lang="en-IN" sz="2400" i="1" dirty="0" smtClean="0">
                <a:solidFill>
                  <a:srgbClr val="002060"/>
                </a:solidFill>
                <a:latin typeface="Algerian" pitchFamily="82" charset="0"/>
                <a:cs typeface="Times New Roman" pitchFamily="18" charset="0"/>
              </a:rPr>
              <a:t>SURVEY</a:t>
            </a:r>
          </a:p>
          <a:p>
            <a:pPr>
              <a:buFont typeface="Wingdings" pitchFamily="2" charset="2"/>
              <a:buChar char="v"/>
            </a:pPr>
            <a:r>
              <a:rPr lang="en-IN" sz="2400" i="1" dirty="0" smtClean="0">
                <a:solidFill>
                  <a:srgbClr val="002060"/>
                </a:solidFill>
                <a:latin typeface="Algerian" pitchFamily="82" charset="0"/>
                <a:cs typeface="Times New Roman" pitchFamily="18" charset="0"/>
              </a:rPr>
              <a:t>workflow</a:t>
            </a:r>
          </a:p>
          <a:p>
            <a:pPr>
              <a:buFont typeface="Wingdings" pitchFamily="2" charset="2"/>
              <a:buChar char="v"/>
            </a:pPr>
            <a:r>
              <a:rPr lang="en-IN" sz="2400" i="1" dirty="0" smtClean="0">
                <a:solidFill>
                  <a:srgbClr val="002060"/>
                </a:solidFill>
                <a:latin typeface="Algerian" pitchFamily="82" charset="0"/>
                <a:cs typeface="Times New Roman" pitchFamily="18" charset="0"/>
              </a:rPr>
              <a:t>RDBMS Creation</a:t>
            </a:r>
          </a:p>
          <a:p>
            <a:pPr>
              <a:buFont typeface="Wingdings" pitchFamily="2" charset="2"/>
              <a:buChar char="v"/>
            </a:pPr>
            <a:r>
              <a:rPr lang="en-IN" sz="2400" i="1" dirty="0" smtClean="0">
                <a:solidFill>
                  <a:srgbClr val="002060"/>
                </a:solidFill>
                <a:latin typeface="Algerian" pitchFamily="82" charset="0"/>
                <a:cs typeface="Times New Roman" pitchFamily="18" charset="0"/>
              </a:rPr>
              <a:t>ER Model</a:t>
            </a:r>
          </a:p>
          <a:p>
            <a:pPr>
              <a:buFont typeface="Wingdings" pitchFamily="2" charset="2"/>
              <a:buChar char="v"/>
            </a:pPr>
            <a:r>
              <a:rPr lang="en-IN" sz="2400" i="1" dirty="0" smtClean="0">
                <a:solidFill>
                  <a:srgbClr val="002060"/>
                </a:solidFill>
                <a:latin typeface="Algerian" pitchFamily="82" charset="0"/>
                <a:cs typeface="Times New Roman" pitchFamily="18" charset="0"/>
              </a:rPr>
              <a:t>Functional dependencies</a:t>
            </a:r>
          </a:p>
          <a:p>
            <a:pPr>
              <a:buNone/>
            </a:pPr>
            <a:endParaRPr lang="en-IN" sz="2400" i="1" dirty="0" smtClean="0">
              <a:solidFill>
                <a:schemeClr val="bg1"/>
              </a:solidFill>
              <a:latin typeface="Algerian" pitchFamily="82" charset="0"/>
              <a:cs typeface="Times New Roman" pitchFamily="18" charset="0"/>
            </a:endParaRPr>
          </a:p>
          <a:p>
            <a:endParaRPr lang="en-IN" sz="2400" i="1" dirty="0" smtClean="0">
              <a:solidFill>
                <a:schemeClr val="bg1"/>
              </a:solidFill>
              <a:latin typeface="Algerian" pitchFamily="82" charset="0"/>
              <a:cs typeface="Times New Roman" pitchFamily="18" charset="0"/>
            </a:endParaRPr>
          </a:p>
          <a:p>
            <a:pPr>
              <a:buNone/>
            </a:pPr>
            <a:endParaRPr lang="en-IN" i="1" dirty="0" smtClean="0">
              <a:solidFill>
                <a:schemeClr val="tx1">
                  <a:lumMod val="75000"/>
                </a:schemeClr>
              </a:solidFill>
              <a:latin typeface="Times New Roman" pitchFamily="18" charset="0"/>
              <a:cs typeface="Times New Roman" pitchFamily="18" charset="0"/>
            </a:endParaRPr>
          </a:p>
          <a:p>
            <a:endParaRPr lang="en-IN" dirty="0"/>
          </a:p>
        </p:txBody>
      </p:sp>
      <p:sp>
        <p:nvSpPr>
          <p:cNvPr id="4" name="Content Placeholder 3"/>
          <p:cNvSpPr>
            <a:spLocks noGrp="1"/>
          </p:cNvSpPr>
          <p:nvPr>
            <p:ph sz="half" idx="2"/>
          </p:nvPr>
        </p:nvSpPr>
        <p:spPr>
          <a:xfrm>
            <a:off x="4724400" y="2133601"/>
            <a:ext cx="4191000" cy="3916363"/>
          </a:xfrm>
        </p:spPr>
        <p:style>
          <a:lnRef idx="2">
            <a:schemeClr val="accent2">
              <a:shade val="50000"/>
            </a:schemeClr>
          </a:lnRef>
          <a:fillRef idx="1">
            <a:schemeClr val="accent2"/>
          </a:fillRef>
          <a:effectRef idx="0">
            <a:schemeClr val="accent2"/>
          </a:effectRef>
          <a:fontRef idx="minor">
            <a:schemeClr val="lt1"/>
          </a:fontRef>
        </p:style>
        <p:txBody>
          <a:bodyPr>
            <a:normAutofit lnSpcReduction="10000"/>
          </a:bodyPr>
          <a:lstStyle/>
          <a:p>
            <a:pPr>
              <a:buFont typeface="Wingdings" pitchFamily="2" charset="2"/>
              <a:buChar char="v"/>
            </a:pPr>
            <a:r>
              <a:rPr lang="en-IN" i="1" dirty="0" smtClean="0">
                <a:solidFill>
                  <a:srgbClr val="002060"/>
                </a:solidFill>
                <a:latin typeface="Algerian" pitchFamily="82" charset="0"/>
                <a:cs typeface="Times New Roman" pitchFamily="18" charset="0"/>
              </a:rPr>
              <a:t>Normalization</a:t>
            </a:r>
          </a:p>
          <a:p>
            <a:pPr lvl="1">
              <a:buFont typeface="Wingdings" pitchFamily="2" charset="2"/>
              <a:buChar char="v"/>
            </a:pPr>
            <a:r>
              <a:rPr lang="en-IN" i="1" dirty="0" smtClean="0">
                <a:solidFill>
                  <a:srgbClr val="002060"/>
                </a:solidFill>
                <a:latin typeface="Algerian" pitchFamily="82" charset="0"/>
                <a:cs typeface="Times New Roman" pitchFamily="18" charset="0"/>
              </a:rPr>
              <a:t>Table in 2nf</a:t>
            </a:r>
          </a:p>
          <a:p>
            <a:pPr lvl="1">
              <a:buFont typeface="Wingdings" pitchFamily="2" charset="2"/>
              <a:buChar char="v"/>
            </a:pPr>
            <a:r>
              <a:rPr lang="en-IN" i="1" dirty="0" smtClean="0">
                <a:solidFill>
                  <a:srgbClr val="002060"/>
                </a:solidFill>
                <a:latin typeface="Algerian" pitchFamily="82" charset="0"/>
                <a:cs typeface="Times New Roman" pitchFamily="18" charset="0"/>
              </a:rPr>
              <a:t>Table in 3nf</a:t>
            </a:r>
          </a:p>
          <a:p>
            <a:pPr lvl="1">
              <a:buFont typeface="Wingdings" pitchFamily="2" charset="2"/>
              <a:buChar char="v"/>
            </a:pPr>
            <a:r>
              <a:rPr lang="en-IN" i="1" dirty="0" smtClean="0">
                <a:solidFill>
                  <a:srgbClr val="002060"/>
                </a:solidFill>
                <a:latin typeface="Algerian" pitchFamily="82" charset="0"/>
                <a:cs typeface="Times New Roman" pitchFamily="18" charset="0"/>
              </a:rPr>
              <a:t>Sample output</a:t>
            </a:r>
          </a:p>
          <a:p>
            <a:pPr>
              <a:buFont typeface="Wingdings" pitchFamily="2" charset="2"/>
              <a:buChar char="v"/>
            </a:pPr>
            <a:r>
              <a:rPr lang="en-IN" i="1" dirty="0" smtClean="0">
                <a:solidFill>
                  <a:srgbClr val="002060"/>
                </a:solidFill>
                <a:latin typeface="Algerian" pitchFamily="82" charset="0"/>
              </a:rPr>
              <a:t>System requirements</a:t>
            </a:r>
          </a:p>
          <a:p>
            <a:pPr>
              <a:buFont typeface="Wingdings" pitchFamily="2" charset="2"/>
              <a:buChar char="v"/>
            </a:pPr>
            <a:r>
              <a:rPr lang="en-IN" i="1" dirty="0" smtClean="0">
                <a:solidFill>
                  <a:srgbClr val="002060"/>
                </a:solidFill>
                <a:latin typeface="Algerian" pitchFamily="82" charset="0"/>
              </a:rPr>
              <a:t>TARGET audience</a:t>
            </a:r>
          </a:p>
          <a:p>
            <a:pPr>
              <a:buFont typeface="Wingdings" pitchFamily="2" charset="2"/>
              <a:buChar char="v"/>
            </a:pPr>
            <a:r>
              <a:rPr lang="en-IN" i="1" dirty="0" smtClean="0">
                <a:solidFill>
                  <a:srgbClr val="002060"/>
                </a:solidFill>
                <a:latin typeface="Algerian" pitchFamily="82" charset="0"/>
              </a:rPr>
              <a:t>CONCLUSION</a:t>
            </a:r>
          </a:p>
          <a:p>
            <a:pPr>
              <a:buNone/>
            </a:pPr>
            <a:endParaRPr lang="en-IN" i="1" dirty="0">
              <a:solidFill>
                <a:srgbClr val="002060"/>
              </a:solidFill>
              <a:latin typeface="Algerian" pitchFamily="82" charset="0"/>
            </a:endParaRPr>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introduction</a:t>
            </a:r>
            <a:endParaRPr lang="en-IN" u="sng"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2057400"/>
            <a:ext cx="7239000" cy="4398336"/>
          </a:xfrm>
          <a:ln/>
        </p:spPr>
        <p:style>
          <a:lnRef idx="1">
            <a:schemeClr val="dk1"/>
          </a:lnRef>
          <a:fillRef idx="2">
            <a:schemeClr val="dk1"/>
          </a:fillRef>
          <a:effectRef idx="1">
            <a:schemeClr val="dk1"/>
          </a:effectRef>
          <a:fontRef idx="minor">
            <a:schemeClr val="dk1"/>
          </a:fontRef>
        </p:style>
        <p:txBody>
          <a:bodyPr>
            <a:normAutofit fontScale="77500" lnSpcReduction="20000"/>
          </a:bodyPr>
          <a:lstStyle/>
          <a:p>
            <a:pPr>
              <a:buFont typeface="Wingdings" pitchFamily="2" charset="2"/>
              <a:buChar char="ü"/>
            </a:pPr>
            <a:r>
              <a:rPr lang="en-IN" dirty="0" smtClean="0">
                <a:latin typeface="Times New Roman" pitchFamily="18" charset="0"/>
                <a:cs typeface="Times New Roman" pitchFamily="18" charset="0"/>
              </a:rPr>
              <a:t>Blood bank is a place where blood bag that is collected from blood donation events is stored in one place. </a:t>
            </a:r>
          </a:p>
          <a:p>
            <a:pPr>
              <a:buFont typeface="Wingdings" pitchFamily="2" charset="2"/>
              <a:buChar char="ü"/>
            </a:pPr>
            <a:endParaRPr lang="en-IN" dirty="0" smtClean="0">
              <a:latin typeface="Times New Roman" pitchFamily="18" charset="0"/>
              <a:cs typeface="Times New Roman" pitchFamily="18" charset="0"/>
            </a:endParaRPr>
          </a:p>
          <a:p>
            <a:pPr>
              <a:buFont typeface="Wingdings" pitchFamily="2" charset="2"/>
              <a:buChar char="ü"/>
            </a:pPr>
            <a:r>
              <a:rPr lang="en-IN" dirty="0" smtClean="0">
                <a:latin typeface="Times New Roman" pitchFamily="18" charset="0"/>
                <a:cs typeface="Times New Roman" pitchFamily="18" charset="0"/>
              </a:rPr>
              <a:t>Before the blood is supplied to the patients, the blood will undergo several tests to ensure that the blood receiver is not infected by serious diseases.</a:t>
            </a:r>
          </a:p>
          <a:p>
            <a:pPr>
              <a:buFont typeface="Wingdings" pitchFamily="2" charset="2"/>
              <a:buChar char="ü"/>
            </a:pPr>
            <a:endParaRPr lang="en-IN" dirty="0" smtClean="0">
              <a:latin typeface="Times New Roman" pitchFamily="18" charset="0"/>
              <a:cs typeface="Times New Roman" pitchFamily="18" charset="0"/>
            </a:endParaRPr>
          </a:p>
          <a:p>
            <a:pPr>
              <a:buFont typeface="Wingdings" pitchFamily="2" charset="2"/>
              <a:buChar char="ü"/>
            </a:pPr>
            <a:r>
              <a:rPr lang="en-IN" dirty="0" smtClean="0">
                <a:latin typeface="Times New Roman" pitchFamily="18" charset="0"/>
                <a:cs typeface="Times New Roman" pitchFamily="18" charset="0"/>
              </a:rPr>
              <a:t>Blood Bank Management System (BBMS) is a web based system that can assists the information of blood bag during its handling in the blood bank. </a:t>
            </a:r>
          </a:p>
          <a:p>
            <a:pPr>
              <a:buFont typeface="Wingdings" pitchFamily="2" charset="2"/>
              <a:buChar char="ü"/>
            </a:pPr>
            <a:endParaRPr lang="en-IN" dirty="0" smtClean="0">
              <a:latin typeface="Times New Roman" pitchFamily="18" charset="0"/>
              <a:cs typeface="Times New Roman" pitchFamily="18" charset="0"/>
            </a:endParaRPr>
          </a:p>
          <a:p>
            <a:pPr>
              <a:buFont typeface="Wingdings" pitchFamily="2" charset="2"/>
              <a:buChar char="ü"/>
            </a:pPr>
            <a:r>
              <a:rPr lang="en-IN" dirty="0" smtClean="0">
                <a:latin typeface="Times New Roman" pitchFamily="18" charset="0"/>
                <a:cs typeface="Times New Roman" pitchFamily="18" charset="0"/>
              </a:rPr>
              <a:t>With this system, the user of this system can key in the result of blood test that has been conducted to each of the blood bag received by the blood bank. The result of test will indicate whether the blood bag can be delivered to patient or not.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dirty="0"/>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280160"/>
          </a:xfrm>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Problem statement</a:t>
            </a:r>
            <a:endParaRPr lang="en-IN" u="sng"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2133600"/>
            <a:ext cx="7239000" cy="4322136"/>
          </a:xfrm>
        </p:spPr>
        <p:style>
          <a:lnRef idx="1">
            <a:schemeClr val="dk1"/>
          </a:lnRef>
          <a:fillRef idx="2">
            <a:schemeClr val="dk1"/>
          </a:fillRef>
          <a:effectRef idx="1">
            <a:schemeClr val="dk1"/>
          </a:effectRef>
          <a:fontRef idx="minor">
            <a:schemeClr val="dk1"/>
          </a:fontRef>
        </p:style>
        <p:txBody>
          <a:bodyPr>
            <a:normAutofit fontScale="92500" lnSpcReduction="10000"/>
          </a:bodyPr>
          <a:lstStyle/>
          <a:p>
            <a:pPr marL="514350" indent="-514350">
              <a:buFont typeface="Wingdings" pitchFamily="2" charset="2"/>
              <a:buChar char="ü"/>
            </a:pPr>
            <a:r>
              <a:rPr lang="en-IN" dirty="0" smtClean="0">
                <a:latin typeface="Times New Roman" pitchFamily="18" charset="0"/>
                <a:cs typeface="Times New Roman" pitchFamily="18" charset="0"/>
              </a:rPr>
              <a:t>One of the factor of the public afraid to donate their blood is they believe in myths. The myths that they always believe are, if they donate their blood they will become fat and if they donate their blood, their blood will become less in total of amount and they will become pale. </a:t>
            </a:r>
          </a:p>
          <a:p>
            <a:pPr marL="514350" indent="-514350">
              <a:buFont typeface="Wingdings" pitchFamily="2" charset="2"/>
              <a:buChar char="ü"/>
            </a:pPr>
            <a:endParaRPr lang="en-IN" dirty="0" smtClean="0">
              <a:latin typeface="Times New Roman" pitchFamily="18" charset="0"/>
              <a:cs typeface="Times New Roman" pitchFamily="18" charset="0"/>
            </a:endParaRPr>
          </a:p>
          <a:p>
            <a:pPr marL="514350" indent="-514350">
              <a:buFont typeface="Wingdings" pitchFamily="2" charset="2"/>
              <a:buChar char="ü"/>
            </a:pPr>
            <a:r>
              <a:rPr lang="en-IN" dirty="0" smtClean="0">
                <a:latin typeface="Times New Roman" pitchFamily="18" charset="0"/>
                <a:cs typeface="Times New Roman" pitchFamily="18" charset="0"/>
              </a:rPr>
              <a:t>This BBMS should provide more information in order to educate the public so that they know blood donation will not give bad effects. By giving awareness to the public, this will increase volunteers to donate their blood.</a:t>
            </a:r>
          </a:p>
          <a:p>
            <a:pPr>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solution</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05000"/>
            <a:ext cx="7239000" cy="4550736"/>
          </a:xfrm>
        </p:spPr>
        <p:style>
          <a:lnRef idx="1">
            <a:schemeClr val="dk1"/>
          </a:lnRef>
          <a:fillRef idx="2">
            <a:schemeClr val="dk1"/>
          </a:fillRef>
          <a:effectRef idx="1">
            <a:schemeClr val="dk1"/>
          </a:effectRef>
          <a:fontRef idx="minor">
            <a:schemeClr val="dk1"/>
          </a:fontRef>
        </p:style>
        <p:txBody>
          <a:bodyPr>
            <a:normAutofit fontScale="85000" lnSpcReduction="20000"/>
          </a:bodyPr>
          <a:lstStyle/>
          <a:p>
            <a:pPr>
              <a:buFont typeface="Wingdings" pitchFamily="2" charset="2"/>
              <a:buChar char="ü"/>
            </a:pPr>
            <a:r>
              <a:rPr lang="en-IN" dirty="0" smtClean="0">
                <a:latin typeface="Times New Roman" pitchFamily="18" charset="0"/>
                <a:cs typeface="Times New Roman" pitchFamily="18" charset="0"/>
              </a:rPr>
              <a:t>The BBMS interface will be constructed to cater for the staff to post about the blood donation events. These details can be viewed by the public so that they know and they can allocate some time to go and donate their blood. </a:t>
            </a:r>
          </a:p>
          <a:p>
            <a:pPr>
              <a:buFont typeface="Wingdings" pitchFamily="2" charset="2"/>
              <a:buChar char="ü"/>
            </a:pPr>
            <a:endParaRPr lang="en-IN" dirty="0" smtClean="0"/>
          </a:p>
          <a:p>
            <a:pPr>
              <a:buFont typeface="Wingdings" pitchFamily="2" charset="2"/>
              <a:buChar char="ü"/>
            </a:pPr>
            <a:r>
              <a:rPr lang="en-IN" dirty="0" smtClean="0">
                <a:latin typeface="Times New Roman" pitchFamily="18" charset="0"/>
                <a:cs typeface="Times New Roman" pitchFamily="18" charset="0"/>
              </a:rPr>
              <a:t>To ensure that the blood donation event schedule is informed, there will be an interface for staff to be able to fill in details and list of location of the blood donation events for each month. </a:t>
            </a:r>
          </a:p>
          <a:p>
            <a:pPr>
              <a:buFont typeface="Wingdings" pitchFamily="2" charset="2"/>
              <a:buChar char="ü"/>
            </a:pPr>
            <a:endParaRPr lang="en-IN" dirty="0" smtClean="0"/>
          </a:p>
          <a:p>
            <a:pPr>
              <a:buFont typeface="Wingdings" pitchFamily="2" charset="2"/>
              <a:buChar char="ü"/>
            </a:pPr>
            <a:r>
              <a:rPr lang="en-IN" dirty="0" smtClean="0">
                <a:latin typeface="Times New Roman" pitchFamily="18" charset="0"/>
                <a:cs typeface="Times New Roman" pitchFamily="18" charset="0"/>
              </a:rPr>
              <a:t>Having this function in BBMS, it is easier for the staff to make any correction if there is any incorrect details and make any changes if there is any changes in location or specified date. </a:t>
            </a:r>
            <a:endParaRPr lang="en-IN"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543800" cy="1143000"/>
          </a:xfrm>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survey</a:t>
            </a:r>
            <a:endParaRPr lang="en-IN" u="sng" dirty="0">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smtClean="0"/>
              <a:t>DBMS PROJECT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dirty="0"/>
          </a:p>
        </p:txBody>
      </p:sp>
      <p:pic>
        <p:nvPicPr>
          <p:cNvPr id="1026" name="Picture 2" descr="Image result for survey of blood bank management system"/>
          <p:cNvPicPr>
            <a:picLocks noChangeAspect="1" noChangeArrowheads="1"/>
          </p:cNvPicPr>
          <p:nvPr/>
        </p:nvPicPr>
        <p:blipFill>
          <a:blip r:embed="rId2" cstate="print"/>
          <a:srcRect/>
          <a:stretch>
            <a:fillRect/>
          </a:stretch>
        </p:blipFill>
        <p:spPr bwMode="auto">
          <a:xfrm>
            <a:off x="457200" y="2209800"/>
            <a:ext cx="7543800" cy="388620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382000" cy="899160"/>
          </a:xfrm>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workflow</a:t>
            </a:r>
            <a:endParaRPr lang="en-IN" u="sng"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dirty="0"/>
          </a:p>
        </p:txBody>
      </p:sp>
      <p:pic>
        <p:nvPicPr>
          <p:cNvPr id="26627" name="Picture 3"/>
          <p:cNvPicPr>
            <a:picLocks noGrp="1" noChangeAspect="1" noChangeArrowheads="1"/>
          </p:cNvPicPr>
          <p:nvPr>
            <p:ph idx="1"/>
          </p:nvPr>
        </p:nvPicPr>
        <p:blipFill>
          <a:blip r:embed="rId2" cstate="print"/>
          <a:srcRect t="3240"/>
          <a:stretch>
            <a:fillRect/>
          </a:stretch>
        </p:blipFill>
        <p:spPr bwMode="auto">
          <a:xfrm>
            <a:off x="533400" y="1905000"/>
            <a:ext cx="8305800" cy="45513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t>CREATE QUERY</a:t>
            </a:r>
            <a:endParaRPr lang="en-IN" u="sng" dirty="0"/>
          </a:p>
        </p:txBody>
      </p:sp>
      <p:sp>
        <p:nvSpPr>
          <p:cNvPr id="4" name="Footer Placeholder 3"/>
          <p:cNvSpPr>
            <a:spLocks noGrp="1"/>
          </p:cNvSpPr>
          <p:nvPr>
            <p:ph type="ftr" sz="quarter" idx="11"/>
          </p:nvPr>
        </p:nvSpPr>
        <p:spPr/>
        <p:txBody>
          <a:bodyPr/>
          <a:lstStyle/>
          <a:p>
            <a:r>
              <a:rPr lang="en-US"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dirty="0"/>
          </a:p>
        </p:txBody>
      </p:sp>
      <p:pic>
        <p:nvPicPr>
          <p:cNvPr id="2051" name="Picture 3"/>
          <p:cNvPicPr>
            <a:picLocks noGrp="1" noChangeAspect="1" noChangeArrowheads="1"/>
          </p:cNvPicPr>
          <p:nvPr>
            <p:ph idx="1"/>
          </p:nvPr>
        </p:nvPicPr>
        <p:blipFill>
          <a:blip r:embed="rId2" cstate="print"/>
          <a:srcRect/>
          <a:stretch>
            <a:fillRect/>
          </a:stretch>
        </p:blipFill>
        <p:spPr bwMode="auto">
          <a:xfrm>
            <a:off x="457200" y="1981200"/>
            <a:ext cx="7239000" cy="41910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DBMS PROJECT </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19200" y="1066800"/>
            <a:ext cx="6172200" cy="4872037"/>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458200" cy="670560"/>
          </a:xfrm>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rdbms creation</a:t>
            </a:r>
            <a:endParaRPr lang="en-IN" u="sng"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33400" y="1219200"/>
            <a:ext cx="8382000" cy="3047999"/>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533400" y="4267200"/>
            <a:ext cx="8382000" cy="2286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382000" cy="518160"/>
          </a:xfrm>
        </p:spPr>
        <p:style>
          <a:lnRef idx="1">
            <a:schemeClr val="dk1"/>
          </a:lnRef>
          <a:fillRef idx="2">
            <a:schemeClr val="dk1"/>
          </a:fillRef>
          <a:effectRef idx="1">
            <a:schemeClr val="dk1"/>
          </a:effectRef>
          <a:fontRef idx="minor">
            <a:schemeClr val="dk1"/>
          </a:fontRef>
        </p:style>
        <p:txBody>
          <a:bodyPr>
            <a:normAutofit fontScale="90000"/>
          </a:bodyPr>
          <a:lstStyle/>
          <a:p>
            <a:pPr algn="ctr"/>
            <a:r>
              <a:rPr lang="en-IN" u="sng" dirty="0" smtClean="0">
                <a:latin typeface="Times New Roman" pitchFamily="18" charset="0"/>
                <a:cs typeface="Times New Roman" pitchFamily="18" charset="0"/>
              </a:rPr>
              <a:t>Rdbms creation</a:t>
            </a:r>
            <a:endParaRPr lang="en-IN" u="sng"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457200" y="990600"/>
            <a:ext cx="8382000" cy="32766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457200" y="4171950"/>
            <a:ext cx="8382000" cy="2381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382000" cy="594360"/>
          </a:xfrm>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Er model</a:t>
            </a:r>
            <a:endParaRPr lang="en-IN" u="sng" dirty="0">
              <a:solidFill>
                <a:schemeClr val="bg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dirty="0"/>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pic>
        <p:nvPicPr>
          <p:cNvPr id="7" name="Picture 2"/>
          <p:cNvPicPr>
            <a:picLocks noGrp="1" noChangeAspect="1" noChangeArrowheads="1"/>
          </p:cNvPicPr>
          <p:nvPr>
            <p:ph idx="1"/>
          </p:nvPr>
        </p:nvPicPr>
        <p:blipFill>
          <a:blip r:embed="rId2" cstate="print"/>
          <a:srcRect/>
          <a:stretch>
            <a:fillRect/>
          </a:stretch>
        </p:blipFill>
        <p:spPr bwMode="auto">
          <a:xfrm>
            <a:off x="457200" y="1295401"/>
            <a:ext cx="8382000" cy="513086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Functional dependencies</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828800"/>
            <a:ext cx="7239000" cy="4626936"/>
          </a:xfrm>
        </p:spPr>
        <p:style>
          <a:lnRef idx="3">
            <a:schemeClr val="lt1"/>
          </a:lnRef>
          <a:fillRef idx="1">
            <a:schemeClr val="accent1"/>
          </a:fillRef>
          <a:effectRef idx="1">
            <a:schemeClr val="accent1"/>
          </a:effectRef>
          <a:fontRef idx="minor">
            <a:schemeClr val="lt1"/>
          </a:fontRef>
        </p:style>
        <p:txBody>
          <a:bodyPr/>
          <a:lstStyle/>
          <a:p>
            <a:pPr>
              <a:buNone/>
            </a:pPr>
            <a:r>
              <a:rPr lang="en-IN" dirty="0" smtClean="0">
                <a:latin typeface="Times New Roman" pitchFamily="18" charset="0"/>
                <a:cs typeface="Times New Roman" pitchFamily="18" charset="0"/>
              </a:rPr>
              <a:t>	The Functional Dependencies for the database created are as follows:</a:t>
            </a:r>
          </a:p>
          <a:p>
            <a:pPr marL="514350" indent="-514350">
              <a:buAutoNum type="alphaUcParenR"/>
            </a:pPr>
            <a:r>
              <a:rPr lang="en-IN" dirty="0" smtClean="0">
                <a:latin typeface="Times New Roman" pitchFamily="18" charset="0"/>
                <a:cs typeface="Times New Roman" pitchFamily="18" charset="0"/>
              </a:rPr>
              <a:t>id-&gt; name</a:t>
            </a:r>
          </a:p>
          <a:p>
            <a:pPr marL="514350" indent="-514350">
              <a:buAutoNum type="alphaUcParenR"/>
            </a:pPr>
            <a:r>
              <a:rPr lang="en-IN" dirty="0" smtClean="0">
                <a:latin typeface="Times New Roman" pitchFamily="18" charset="0"/>
                <a:cs typeface="Times New Roman" pitchFamily="18" charset="0"/>
              </a:rPr>
              <a:t>name-&gt;typeb</a:t>
            </a:r>
          </a:p>
          <a:p>
            <a:pPr marL="514350" indent="-514350">
              <a:buAutoNum type="alphaUcParenR"/>
            </a:pPr>
            <a:r>
              <a:rPr lang="en-IN" dirty="0" smtClean="0">
                <a:latin typeface="Times New Roman" pitchFamily="18" charset="0"/>
                <a:cs typeface="Times New Roman" pitchFamily="18" charset="0"/>
              </a:rPr>
              <a:t>name-&gt;age</a:t>
            </a:r>
          </a:p>
          <a:p>
            <a:pPr marL="514350" indent="-514350">
              <a:buAutoNum type="alphaUcParenR"/>
            </a:pPr>
            <a:r>
              <a:rPr lang="en-IN" dirty="0" smtClean="0">
                <a:latin typeface="Times New Roman" pitchFamily="18" charset="0"/>
                <a:cs typeface="Times New Roman" pitchFamily="18" charset="0"/>
              </a:rPr>
              <a:t>name-&gt;sex</a:t>
            </a:r>
          </a:p>
          <a:p>
            <a:pPr marL="514350" indent="-514350">
              <a:buAutoNum type="alphaUcParenR"/>
            </a:pPr>
            <a:r>
              <a:rPr lang="en-IN" dirty="0" smtClean="0">
                <a:latin typeface="Times New Roman" pitchFamily="18" charset="0"/>
                <a:cs typeface="Times New Roman" pitchFamily="18" charset="0"/>
              </a:rPr>
              <a:t>id-&gt;density</a:t>
            </a:r>
          </a:p>
          <a:p>
            <a:pPr marL="514350" indent="-514350">
              <a:buAutoNum type="alphaUcParenR"/>
            </a:pPr>
            <a:r>
              <a:rPr lang="en-IN" dirty="0" smtClean="0">
                <a:latin typeface="Times New Roman" pitchFamily="18" charset="0"/>
                <a:cs typeface="Times New Roman" pitchFamily="18" charset="0"/>
              </a:rPr>
              <a:t>id-&gt;branch</a:t>
            </a:r>
          </a:p>
          <a:p>
            <a:pPr marL="514350" indent="-514350">
              <a:buNone/>
            </a:pPr>
            <a:r>
              <a:rPr lang="en-IN" dirty="0" smtClean="0">
                <a:latin typeface="Times New Roman" pitchFamily="18" charset="0"/>
                <a:cs typeface="Times New Roman" pitchFamily="18" charset="0"/>
              </a:rPr>
              <a:t>Here, Id is the primary key.</a:t>
            </a:r>
          </a:p>
          <a:p>
            <a:pPr marL="514350" indent="-514350">
              <a:buAutoNum type="alphaUcParenR"/>
            </a:pPr>
            <a:endParaRPr lang="en-IN" dirty="0" smtClean="0">
              <a:latin typeface="Times New Roman" pitchFamily="18" charset="0"/>
              <a:cs typeface="Times New Roman" pitchFamily="18" charset="0"/>
            </a:endParaRPr>
          </a:p>
          <a:p>
            <a:pPr marL="514350" indent="-514350">
              <a:buAutoNum type="alphaUcParenR"/>
            </a:pPr>
            <a:endParaRPr lang="en-IN" dirty="0" smtClean="0">
              <a:latin typeface="Times New Roman" pitchFamily="18" charset="0"/>
              <a:cs typeface="Times New Roman" pitchFamily="18" charset="0"/>
            </a:endParaRPr>
          </a:p>
          <a:p>
            <a:pPr marL="514350" indent="-514350">
              <a:buAutoNum type="alphaUcParenR"/>
            </a:pPr>
            <a:endParaRPr lang="en-IN" dirty="0" smtClean="0">
              <a:latin typeface="Times New Roman" pitchFamily="18" charset="0"/>
              <a:cs typeface="Times New Roman" pitchFamily="18" charset="0"/>
            </a:endParaRPr>
          </a:p>
          <a:p>
            <a:pPr>
              <a:buNone/>
            </a:pPr>
            <a:endParaRPr lang="en-IN"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normalization</a:t>
            </a:r>
            <a:endParaRPr lang="en-IN" u="sng"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905000"/>
            <a:ext cx="7239000" cy="4550736"/>
          </a:xfrm>
        </p:spPr>
        <p:style>
          <a:lnRef idx="1">
            <a:schemeClr val="dk1"/>
          </a:lnRef>
          <a:fillRef idx="2">
            <a:schemeClr val="dk1"/>
          </a:fillRef>
          <a:effectRef idx="1">
            <a:schemeClr val="dk1"/>
          </a:effectRef>
          <a:fontRef idx="minor">
            <a:schemeClr val="dk1"/>
          </a:fontRef>
        </p:style>
        <p:txBody>
          <a:bodyPr>
            <a:normAutofit/>
          </a:bodyPr>
          <a:lstStyle/>
          <a:p>
            <a:pPr>
              <a:buNone/>
            </a:pPr>
            <a:r>
              <a:rPr lang="en-IN" dirty="0" smtClean="0">
                <a:latin typeface="Times New Roman" pitchFamily="18" charset="0"/>
                <a:cs typeface="Times New Roman" pitchFamily="18" charset="0"/>
              </a:rPr>
              <a:t>Here, we performed Normalization for :</a:t>
            </a:r>
          </a:p>
          <a:p>
            <a:pPr marL="514350" indent="-514350">
              <a:buAutoNum type="alphaLcParenR"/>
            </a:pPr>
            <a:endParaRPr lang="en-IN" dirty="0" smtClean="0">
              <a:latin typeface="Times New Roman" pitchFamily="18" charset="0"/>
              <a:cs typeface="Times New Roman" pitchFamily="18" charset="0"/>
            </a:endParaRPr>
          </a:p>
          <a:p>
            <a:pPr marL="514350" indent="-514350">
              <a:buNone/>
            </a:pPr>
            <a:r>
              <a:rPr lang="en-IN" dirty="0" smtClean="0">
                <a:latin typeface="Times New Roman" pitchFamily="18" charset="0"/>
                <a:cs typeface="Times New Roman" pitchFamily="18" charset="0"/>
              </a:rPr>
              <a:t>A)  Prevention of  anomalies caused from Update, Insert and Delete Queries</a:t>
            </a:r>
          </a:p>
          <a:p>
            <a:pPr marL="514350" indent="-514350">
              <a:buNone/>
            </a:pPr>
            <a:r>
              <a:rPr lang="en-IN" dirty="0" smtClean="0">
                <a:latin typeface="Times New Roman" pitchFamily="18" charset="0"/>
                <a:cs typeface="Times New Roman" pitchFamily="18" charset="0"/>
              </a:rPr>
              <a:t>B)  Reduction of Data Inconsistency </a:t>
            </a:r>
          </a:p>
          <a:p>
            <a:pPr marL="514350" indent="-514350">
              <a:buNone/>
            </a:pPr>
            <a:r>
              <a:rPr lang="en-IN" dirty="0" smtClean="0">
                <a:latin typeface="Times New Roman" pitchFamily="18" charset="0"/>
                <a:cs typeface="Times New Roman" pitchFamily="18" charset="0"/>
              </a:rPr>
              <a:t>C)  Reduction of Data Redundancy</a:t>
            </a:r>
          </a:p>
          <a:p>
            <a:pPr marL="514350" indent="-514350">
              <a:buNone/>
            </a:pPr>
            <a:r>
              <a:rPr lang="en-IN" dirty="0" smtClean="0">
                <a:latin typeface="Times New Roman" pitchFamily="18" charset="0"/>
                <a:cs typeface="Times New Roman" pitchFamily="18" charset="0"/>
              </a:rPr>
              <a:t>D)  Converting Table to 1NF</a:t>
            </a:r>
          </a:p>
          <a:p>
            <a:pPr marL="514350" indent="-514350">
              <a:buNone/>
            </a:pPr>
            <a:r>
              <a:rPr lang="en-IN" dirty="0" smtClean="0">
                <a:latin typeface="Times New Roman" pitchFamily="18" charset="0"/>
                <a:cs typeface="Times New Roman" pitchFamily="18" charset="0"/>
              </a:rPr>
              <a:t>E)  Converting Table to 2NF</a:t>
            </a:r>
          </a:p>
          <a:p>
            <a:pPr marL="514350" indent="-514350">
              <a:buNone/>
            </a:pPr>
            <a:r>
              <a:rPr lang="en-IN" dirty="0" smtClean="0">
                <a:latin typeface="Times New Roman" pitchFamily="18" charset="0"/>
                <a:cs typeface="Times New Roman" pitchFamily="18" charset="0"/>
              </a:rPr>
              <a:t>F)  Converting Table to 3NF</a:t>
            </a:r>
          </a:p>
          <a:p>
            <a:pPr marL="514350" indent="-514350">
              <a:buNone/>
            </a:pPr>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dirty="0"/>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sp>
        <p:nvSpPr>
          <p:cNvPr id="6" name="Rectangle 5"/>
          <p:cNvSpPr/>
          <p:nvPr/>
        </p:nvSpPr>
        <p:spPr>
          <a:xfrm>
            <a:off x="4495800" y="4800600"/>
            <a:ext cx="2971800" cy="1447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latin typeface="Times New Roman" pitchFamily="18" charset="0"/>
                <a:cs typeface="Times New Roman" pitchFamily="18" charset="0"/>
              </a:rPr>
              <a:t>Conversion happens if the tables are not in 1NF, 2NF,3NF Forms!</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normalization</a:t>
            </a:r>
            <a:endParaRPr lang="en-IN" u="sng" dirty="0"/>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dirty="0"/>
          </a:p>
        </p:txBody>
      </p:sp>
      <p:sp>
        <p:nvSpPr>
          <p:cNvPr id="9" name="Content Placeholder 8"/>
          <p:cNvSpPr>
            <a:spLocks noGrp="1"/>
          </p:cNvSpPr>
          <p:nvPr>
            <p:ph idx="1"/>
          </p:nvPr>
        </p:nvSpPr>
        <p:spPr/>
        <p:style>
          <a:lnRef idx="1">
            <a:schemeClr val="dk1"/>
          </a:lnRef>
          <a:fillRef idx="2">
            <a:schemeClr val="dk1"/>
          </a:fillRef>
          <a:effectRef idx="1">
            <a:schemeClr val="dk1"/>
          </a:effectRef>
          <a:fontRef idx="minor">
            <a:schemeClr val="dk1"/>
          </a:fontRef>
        </p:style>
        <p:txBody>
          <a:bodyPr/>
          <a:lstStyle/>
          <a:p>
            <a:pPr>
              <a:buNone/>
            </a:pPr>
            <a:r>
              <a:rPr lang="en-IN" sz="2000" b="1" u="sng" dirty="0" smtClean="0">
                <a:latin typeface="Times New Roman" pitchFamily="18" charset="0"/>
                <a:cs typeface="Times New Roman" pitchFamily="18" charset="0"/>
              </a:rPr>
              <a:t>PERFORMING OPERATIONS WITH ANOMALIES:</a:t>
            </a:r>
          </a:p>
          <a:p>
            <a:pPr>
              <a:buNone/>
            </a:pPr>
            <a:r>
              <a:rPr lang="en-IN" sz="2000" b="1" dirty="0" smtClean="0">
                <a:latin typeface="Times New Roman" pitchFamily="18" charset="0"/>
                <a:cs typeface="Times New Roman" pitchFamily="18" charset="0"/>
              </a:rPr>
              <a:t>INSERT ANOMALY:</a:t>
            </a:r>
          </a:p>
          <a:p>
            <a:pPr>
              <a:buNone/>
            </a:pPr>
            <a:r>
              <a:rPr lang="en-IN" sz="2000" dirty="0" smtClean="0">
                <a:latin typeface="Times New Roman" pitchFamily="18" charset="0"/>
                <a:cs typeface="Times New Roman" pitchFamily="18" charset="0"/>
              </a:rPr>
              <a:t>INSERT INTO blood VALUES(null,' Sanjeev ','A- ',21,'m',6,'Lecturescolony');</a:t>
            </a:r>
          </a:p>
          <a:p>
            <a:pPr>
              <a:buNone/>
            </a:pPr>
            <a:endParaRPr lang="en-IN" sz="2000" dirty="0" smtClean="0">
              <a:latin typeface="Times New Roman" pitchFamily="18" charset="0"/>
              <a:cs typeface="Times New Roman" pitchFamily="18" charset="0"/>
            </a:endParaRPr>
          </a:p>
          <a:p>
            <a:pPr>
              <a:buNone/>
            </a:pPr>
            <a:r>
              <a:rPr lang="en-IN" sz="2000" b="1" dirty="0" smtClean="0">
                <a:latin typeface="Times New Roman" pitchFamily="18" charset="0"/>
                <a:cs typeface="Times New Roman" pitchFamily="18" charset="0"/>
              </a:rPr>
              <a:t>UPDATE ANOMALY:</a:t>
            </a:r>
          </a:p>
          <a:p>
            <a:pPr>
              <a:buNone/>
            </a:pPr>
            <a:r>
              <a:rPr lang="en-IN" sz="2000" dirty="0" smtClean="0">
                <a:latin typeface="Times New Roman" pitchFamily="18" charset="0"/>
                <a:cs typeface="Times New Roman" pitchFamily="18" charset="0"/>
              </a:rPr>
              <a:t>update blood set age=25 where sex='m';</a:t>
            </a:r>
          </a:p>
          <a:p>
            <a:pPr>
              <a:buNone/>
            </a:pPr>
            <a:endParaRPr lang="en-IN" sz="2000" dirty="0" smtClean="0">
              <a:latin typeface="Times New Roman" pitchFamily="18" charset="0"/>
              <a:cs typeface="Times New Roman" pitchFamily="18" charset="0"/>
            </a:endParaRPr>
          </a:p>
          <a:p>
            <a:pPr>
              <a:buNone/>
            </a:pPr>
            <a:r>
              <a:rPr lang="en-IN" sz="2000" b="1" dirty="0" smtClean="0">
                <a:latin typeface="Times New Roman" pitchFamily="18" charset="0"/>
                <a:cs typeface="Times New Roman" pitchFamily="18" charset="0"/>
              </a:rPr>
              <a:t>DELETE ANOMALY:</a:t>
            </a:r>
          </a:p>
          <a:p>
            <a:pPr>
              <a:buNone/>
            </a:pPr>
            <a:r>
              <a:rPr lang="en-IN" sz="2000" dirty="0" smtClean="0">
                <a:latin typeface="Times New Roman" pitchFamily="18" charset="0"/>
                <a:cs typeface="Times New Roman" pitchFamily="18" charset="0"/>
              </a:rPr>
              <a:t>delete from blood where sex='m';</a:t>
            </a:r>
          </a:p>
          <a:p>
            <a:pPr>
              <a:buNone/>
            </a:pPr>
            <a:endParaRPr lang="en-IN" sz="2000" b="1" dirty="0" smtClean="0"/>
          </a:p>
          <a:p>
            <a:pPr>
              <a:buNone/>
            </a:pPr>
            <a:endParaRPr lang="en-IN" b="1" u="sng"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Table in 2nf</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normAutofit/>
          </a:bodyPr>
          <a:lstStyle/>
          <a:p>
            <a:pPr>
              <a:buFont typeface="Wingdings" pitchFamily="2" charset="2"/>
              <a:buChar char="ü"/>
            </a:pPr>
            <a:r>
              <a:rPr lang="en-IN" sz="2400" b="1" dirty="0" smtClean="0">
                <a:solidFill>
                  <a:srgbClr val="002060"/>
                </a:solidFill>
                <a:latin typeface="Times New Roman" pitchFamily="18" charset="0"/>
                <a:cs typeface="Times New Roman" pitchFamily="18" charset="0"/>
              </a:rPr>
              <a:t>Due to the closure of {id, name}+ involving all attributes of the relation, id and name are candidate keys.</a:t>
            </a:r>
          </a:p>
          <a:p>
            <a:pPr>
              <a:buFont typeface="Wingdings" pitchFamily="2" charset="2"/>
              <a:buChar char="ü"/>
            </a:pPr>
            <a:endParaRPr lang="en-IN" sz="2400" b="1" dirty="0" smtClean="0">
              <a:solidFill>
                <a:srgbClr val="002060"/>
              </a:solidFill>
              <a:latin typeface="Times New Roman" pitchFamily="18" charset="0"/>
              <a:cs typeface="Times New Roman" pitchFamily="18" charset="0"/>
            </a:endParaRPr>
          </a:p>
          <a:p>
            <a:pPr>
              <a:buFont typeface="Wingdings" pitchFamily="2" charset="2"/>
              <a:buChar char="ü"/>
            </a:pPr>
            <a:r>
              <a:rPr lang="en-IN" sz="2400" b="1" dirty="0" smtClean="0">
                <a:solidFill>
                  <a:srgbClr val="002060"/>
                </a:solidFill>
                <a:latin typeface="Times New Roman" pitchFamily="18" charset="0"/>
                <a:cs typeface="Times New Roman" pitchFamily="18" charset="0"/>
              </a:rPr>
              <a:t>Here, id and name are prime attributes whereas typeb, age, sex, density , branch are Non-Prime attributes.</a:t>
            </a:r>
          </a:p>
          <a:p>
            <a:pPr>
              <a:buNone/>
            </a:pPr>
            <a:r>
              <a:rPr lang="en-IN" sz="2400" dirty="0" smtClean="0">
                <a:latin typeface="Times New Roman" pitchFamily="18" charset="0"/>
                <a:cs typeface="Times New Roman" pitchFamily="18" charset="0"/>
              </a:rPr>
              <a:t>	</a:t>
            </a:r>
          </a:p>
          <a:p>
            <a:pPr>
              <a:buNone/>
            </a:pPr>
            <a:r>
              <a:rPr lang="en-IN" sz="2400" dirty="0" smtClean="0">
                <a:latin typeface="Times New Roman" pitchFamily="18" charset="0"/>
                <a:cs typeface="Times New Roman" pitchFamily="18" charset="0"/>
              </a:rPr>
              <a:t>	Here, The conditions given for FDs includes Non-Prime attributes FULLY dependent on Candidate keys. So, this database is </a:t>
            </a:r>
            <a:r>
              <a:rPr lang="en-IN" sz="2400" b="1" dirty="0" smtClean="0">
                <a:latin typeface="Times New Roman" pitchFamily="18" charset="0"/>
                <a:cs typeface="Times New Roman" pitchFamily="18" charset="0"/>
              </a:rPr>
              <a:t>IN</a:t>
            </a:r>
            <a:r>
              <a:rPr lang="en-IN" sz="2400" dirty="0" smtClean="0">
                <a:latin typeface="Times New Roman" pitchFamily="18" charset="0"/>
                <a:cs typeface="Times New Roman" pitchFamily="18" charset="0"/>
              </a:rPr>
              <a:t> 2NF FORM.</a:t>
            </a:r>
          </a:p>
          <a:p>
            <a:pPr>
              <a:buNone/>
            </a:pPr>
            <a:r>
              <a:rPr lang="en-IN" sz="2200"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dirty="0"/>
          </a:p>
        </p:txBody>
      </p:sp>
      <p:sp>
        <p:nvSpPr>
          <p:cNvPr id="7" name="Left Brace 6"/>
          <p:cNvSpPr/>
          <p:nvPr/>
        </p:nvSpPr>
        <p:spPr>
          <a:xfrm>
            <a:off x="533400" y="1828800"/>
            <a:ext cx="228600" cy="24384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TABLE IN 2NF</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05000"/>
            <a:ext cx="7239000" cy="4550736"/>
          </a:xfrm>
        </p:spPr>
        <p:style>
          <a:lnRef idx="1">
            <a:schemeClr val="dk1"/>
          </a:lnRef>
          <a:fillRef idx="2">
            <a:schemeClr val="dk1"/>
          </a:fillRef>
          <a:effectRef idx="1">
            <a:schemeClr val="dk1"/>
          </a:effectRef>
          <a:fontRef idx="minor">
            <a:schemeClr val="dk1"/>
          </a:fontRef>
        </p:style>
        <p:txBody>
          <a:bodyPr>
            <a:normAutofit fontScale="92500" lnSpcReduction="10000"/>
          </a:bodyPr>
          <a:lstStyle/>
          <a:p>
            <a:pPr>
              <a:buNone/>
            </a:pPr>
            <a:r>
              <a:rPr lang="en-IN" sz="3200" dirty="0" smtClean="0">
                <a:latin typeface="Times New Roman" pitchFamily="18" charset="0"/>
                <a:cs typeface="Times New Roman" pitchFamily="18" charset="0"/>
              </a:rPr>
              <a:t>	</a:t>
            </a:r>
          </a:p>
          <a:p>
            <a:pPr>
              <a:buNone/>
            </a:pPr>
            <a:r>
              <a:rPr lang="en-IN" sz="3200" dirty="0" smtClean="0">
                <a:latin typeface="Times New Roman" pitchFamily="18" charset="0"/>
                <a:cs typeface="Times New Roman" pitchFamily="18" charset="0"/>
              </a:rPr>
              <a:t>Table in 2NF has these relations:</a:t>
            </a:r>
          </a:p>
          <a:p>
            <a:pPr lvl="1">
              <a:buNone/>
            </a:pPr>
            <a:r>
              <a:rPr lang="en-IN" sz="3200" dirty="0" smtClean="0">
                <a:latin typeface="Times New Roman" pitchFamily="18" charset="0"/>
                <a:cs typeface="Times New Roman" pitchFamily="18" charset="0"/>
              </a:rPr>
              <a:t>	 </a:t>
            </a:r>
          </a:p>
          <a:p>
            <a:pPr lvl="1">
              <a:buNone/>
            </a:pPr>
            <a:r>
              <a:rPr lang="en-IN" sz="3200" dirty="0" smtClean="0">
                <a:latin typeface="Times New Roman" pitchFamily="18" charset="0"/>
                <a:cs typeface="Times New Roman" pitchFamily="18" charset="0"/>
              </a:rPr>
              <a:t>	 Blood(name, typeb) </a:t>
            </a:r>
          </a:p>
          <a:p>
            <a:pPr lvl="1">
              <a:buNone/>
            </a:pPr>
            <a:r>
              <a:rPr lang="en-IN" sz="3200" dirty="0" smtClean="0">
                <a:latin typeface="Times New Roman" pitchFamily="18" charset="0"/>
                <a:cs typeface="Times New Roman" pitchFamily="18" charset="0"/>
              </a:rPr>
              <a:t>	 Blood(name, age)    </a:t>
            </a:r>
          </a:p>
          <a:p>
            <a:pPr lvl="1">
              <a:buNone/>
            </a:pPr>
            <a:r>
              <a:rPr lang="en-IN" sz="3200" dirty="0" smtClean="0">
                <a:latin typeface="Times New Roman" pitchFamily="18" charset="0"/>
                <a:cs typeface="Times New Roman" pitchFamily="18" charset="0"/>
              </a:rPr>
              <a:t>	 Blood(name, sex)    </a:t>
            </a:r>
          </a:p>
          <a:p>
            <a:pPr lvl="1">
              <a:buNone/>
            </a:pPr>
            <a:r>
              <a:rPr lang="en-IN" sz="3200" dirty="0" smtClean="0">
                <a:latin typeface="Times New Roman" pitchFamily="18" charset="0"/>
                <a:cs typeface="Times New Roman" pitchFamily="18" charset="0"/>
              </a:rPr>
              <a:t>	 Blood(id, density)   </a:t>
            </a:r>
          </a:p>
          <a:p>
            <a:pPr lvl="1">
              <a:buNone/>
            </a:pPr>
            <a:r>
              <a:rPr lang="en-IN" sz="3200" dirty="0" smtClean="0">
                <a:latin typeface="Times New Roman" pitchFamily="18" charset="0"/>
                <a:cs typeface="Times New Roman" pitchFamily="18" charset="0"/>
              </a:rPr>
              <a:t>	 Blood(id, branch)	</a:t>
            </a:r>
          </a:p>
          <a:p>
            <a:pPr lvl="1">
              <a:buNone/>
            </a:pPr>
            <a:r>
              <a:rPr lang="en-IN" sz="3200" dirty="0" smtClean="0">
                <a:latin typeface="Times New Roman" pitchFamily="18" charset="0"/>
                <a:cs typeface="Times New Roman" pitchFamily="18" charset="0"/>
              </a:rPr>
              <a:t>	 Blood(id, name)</a:t>
            </a:r>
            <a:endParaRPr lang="en-IN" sz="3200" dirty="0"/>
          </a:p>
        </p:txBody>
      </p:sp>
      <p:sp>
        <p:nvSpPr>
          <p:cNvPr id="4" name="Footer Placeholder 3"/>
          <p:cNvSpPr>
            <a:spLocks noGrp="1"/>
          </p:cNvSpPr>
          <p:nvPr>
            <p:ph type="ftr" sz="quarter" idx="11"/>
          </p:nvPr>
        </p:nvSpPr>
        <p:spPr/>
        <p:txBody>
          <a:bodyPr/>
          <a:lstStyle/>
          <a:p>
            <a:r>
              <a:rPr lang="en-US"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dirty="0"/>
          </a:p>
        </p:txBody>
      </p:sp>
      <p:sp>
        <p:nvSpPr>
          <p:cNvPr id="6" name="Right Brace 5"/>
          <p:cNvSpPr/>
          <p:nvPr/>
        </p:nvSpPr>
        <p:spPr>
          <a:xfrm>
            <a:off x="4495800" y="3352800"/>
            <a:ext cx="457200" cy="28194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Rectangle 6"/>
          <p:cNvSpPr/>
          <p:nvPr/>
        </p:nvSpPr>
        <p:spPr>
          <a:xfrm>
            <a:off x="5029200" y="3352800"/>
            <a:ext cx="2438400" cy="2819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latin typeface="Times New Roman" pitchFamily="18" charset="0"/>
                <a:cs typeface="Times New Roman" pitchFamily="18" charset="0"/>
              </a:rPr>
              <a:t>RELATIONS LISTED ARE ALREADY IN 3NF!!!</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Table in 3nf</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p:style>
          <a:lnRef idx="1">
            <a:schemeClr val="dk1"/>
          </a:lnRef>
          <a:fillRef idx="2">
            <a:schemeClr val="dk1"/>
          </a:fillRef>
          <a:effectRef idx="1">
            <a:schemeClr val="dk1"/>
          </a:effectRef>
          <a:fontRef idx="minor">
            <a:schemeClr val="dk1"/>
          </a:fontRef>
        </p:style>
        <p:txBody>
          <a:bodyPr>
            <a:normAutofit fontScale="92500" lnSpcReduction="10000"/>
          </a:bodyPr>
          <a:lstStyle/>
          <a:p>
            <a:pPr>
              <a:buFont typeface="Wingdings" pitchFamily="2" charset="2"/>
              <a:buChar char="ü"/>
            </a:pPr>
            <a:r>
              <a:rPr lang="en-IN" dirty="0" smtClean="0">
                <a:latin typeface="Times New Roman" pitchFamily="18" charset="0"/>
                <a:cs typeface="Times New Roman" pitchFamily="18" charset="0"/>
              </a:rPr>
              <a:t>Here, from the given FDs we see that Prime attributes derive Non-Prime attributes . Thus, the given database is </a:t>
            </a:r>
            <a:r>
              <a:rPr lang="en-IN" b="1" dirty="0" smtClean="0">
                <a:latin typeface="Times New Roman" pitchFamily="18" charset="0"/>
                <a:cs typeface="Times New Roman" pitchFamily="18" charset="0"/>
              </a:rPr>
              <a:t>IN </a:t>
            </a:r>
            <a:r>
              <a:rPr lang="en-IN" dirty="0" smtClean="0">
                <a:latin typeface="Times New Roman" pitchFamily="18" charset="0"/>
                <a:cs typeface="Times New Roman" pitchFamily="18" charset="0"/>
              </a:rPr>
              <a:t>3NF form.</a:t>
            </a:r>
          </a:p>
          <a:p>
            <a:pPr>
              <a:buFont typeface="Wingdings" pitchFamily="2" charset="2"/>
              <a:buChar char="ü"/>
            </a:pPr>
            <a:endParaRPr lang="en-IN" dirty="0" smtClean="0">
              <a:latin typeface="Times New Roman" pitchFamily="18" charset="0"/>
              <a:cs typeface="Times New Roman" pitchFamily="18" charset="0"/>
            </a:endParaRPr>
          </a:p>
          <a:p>
            <a:pPr>
              <a:buFont typeface="Wingdings" pitchFamily="2" charset="2"/>
              <a:buChar char="ü"/>
            </a:pPr>
            <a:r>
              <a:rPr lang="en-IN" dirty="0" smtClean="0">
                <a:latin typeface="Times New Roman" pitchFamily="18" charset="0"/>
                <a:cs typeface="Times New Roman" pitchFamily="18" charset="0"/>
              </a:rPr>
              <a:t>Table in 3NF has these relations:</a:t>
            </a:r>
          </a:p>
          <a:p>
            <a:pPr>
              <a:buFont typeface="Wingdings" pitchFamily="2" charset="2"/>
              <a:buChar char="ü"/>
            </a:pPr>
            <a:endParaRPr lang="en-IN" dirty="0" smtClean="0">
              <a:latin typeface="Times New Roman" pitchFamily="18" charset="0"/>
              <a:cs typeface="Times New Roman" pitchFamily="18" charset="0"/>
            </a:endParaRPr>
          </a:p>
          <a:p>
            <a:pPr>
              <a:buFont typeface="Wingdings" pitchFamily="2" charset="2"/>
              <a:buChar char="ü"/>
            </a:pPr>
            <a:r>
              <a:rPr lang="en-IN" dirty="0" smtClean="0">
                <a:latin typeface="Times New Roman" pitchFamily="18" charset="0"/>
                <a:cs typeface="Times New Roman" pitchFamily="18" charset="0"/>
              </a:rPr>
              <a:t>Blood(name, typeb)</a:t>
            </a:r>
          </a:p>
          <a:p>
            <a:pPr>
              <a:buFont typeface="Wingdings" pitchFamily="2" charset="2"/>
              <a:buChar char="ü"/>
            </a:pPr>
            <a:r>
              <a:rPr lang="en-IN" dirty="0" smtClean="0">
                <a:latin typeface="Times New Roman" pitchFamily="18" charset="0"/>
                <a:cs typeface="Times New Roman" pitchFamily="18" charset="0"/>
              </a:rPr>
              <a:t>Blood(name, age)</a:t>
            </a:r>
          </a:p>
          <a:p>
            <a:pPr>
              <a:buFont typeface="Wingdings" pitchFamily="2" charset="2"/>
              <a:buChar char="ü"/>
            </a:pPr>
            <a:r>
              <a:rPr lang="en-IN" dirty="0" smtClean="0">
                <a:latin typeface="Times New Roman" pitchFamily="18" charset="0"/>
                <a:cs typeface="Times New Roman" pitchFamily="18" charset="0"/>
              </a:rPr>
              <a:t>Blood(name, sex)</a:t>
            </a:r>
          </a:p>
          <a:p>
            <a:pPr>
              <a:buFont typeface="Wingdings" pitchFamily="2" charset="2"/>
              <a:buChar char="ü"/>
            </a:pPr>
            <a:r>
              <a:rPr lang="en-IN" dirty="0" smtClean="0">
                <a:latin typeface="Times New Roman" pitchFamily="18" charset="0"/>
                <a:cs typeface="Times New Roman" pitchFamily="18" charset="0"/>
              </a:rPr>
              <a:t>Blood(id, density)</a:t>
            </a:r>
          </a:p>
          <a:p>
            <a:pPr>
              <a:buFont typeface="Wingdings" pitchFamily="2" charset="2"/>
              <a:buChar char="ü"/>
            </a:pPr>
            <a:r>
              <a:rPr lang="en-IN" dirty="0" smtClean="0">
                <a:latin typeface="Times New Roman" pitchFamily="18" charset="0"/>
                <a:cs typeface="Times New Roman" pitchFamily="18" charset="0"/>
              </a:rPr>
              <a:t>Blood(id, branch)</a:t>
            </a:r>
          </a:p>
          <a:p>
            <a:pPr>
              <a:buFont typeface="Wingdings" pitchFamily="2" charset="2"/>
              <a:buChar char="ü"/>
            </a:pPr>
            <a:r>
              <a:rPr lang="en-IN" dirty="0" smtClean="0">
                <a:latin typeface="Times New Roman" pitchFamily="18" charset="0"/>
                <a:cs typeface="Times New Roman" pitchFamily="18" charset="0"/>
              </a:rPr>
              <a:t>Blood(id, name)</a:t>
            </a:r>
            <a:endParaRPr lang="en-IN"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normAutofit fontScale="90000"/>
          </a:bodyPr>
          <a:lstStyle/>
          <a:p>
            <a:pPr algn="ctr"/>
            <a:r>
              <a:rPr lang="en-IN" u="sng" dirty="0" smtClean="0">
                <a:latin typeface="Times New Roman" pitchFamily="18" charset="0"/>
                <a:cs typeface="Times New Roman" pitchFamily="18" charset="0"/>
              </a:rPr>
              <a:t>TABLEs IN 2NF and 3nf </a:t>
            </a:r>
            <a:br>
              <a:rPr lang="en-IN" u="sng" dirty="0" smtClean="0">
                <a:latin typeface="Times New Roman" pitchFamily="18" charset="0"/>
                <a:cs typeface="Times New Roman" pitchFamily="18" charset="0"/>
              </a:rPr>
            </a:br>
            <a:r>
              <a:rPr lang="en-IN" u="sng" dirty="0" smtClean="0">
                <a:latin typeface="Times New Roman" pitchFamily="18" charset="0"/>
                <a:cs typeface="Times New Roman" pitchFamily="18" charset="0"/>
              </a:rPr>
              <a:t>[sample OUTPUT]</a:t>
            </a:r>
            <a:endParaRPr lang="en-IN" u="sng" dirty="0">
              <a:latin typeface="Times New Roman" pitchFamily="18" charset="0"/>
              <a:cs typeface="Times New Roman" pitchFamily="18" charset="0"/>
            </a:endParaRPr>
          </a:p>
        </p:txBody>
      </p:sp>
      <p:sp>
        <p:nvSpPr>
          <p:cNvPr id="4" name="Footer Placeholder 3"/>
          <p:cNvSpPr>
            <a:spLocks noGrp="1"/>
          </p:cNvSpPr>
          <p:nvPr>
            <p:ph type="ftr" sz="quarter" idx="11"/>
          </p:nvPr>
        </p:nvSpPr>
        <p:spPr/>
        <p:txBody>
          <a:bodyPr/>
          <a:lstStyle/>
          <a:p>
            <a:r>
              <a:rPr lang="en-US"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533400" y="1981200"/>
            <a:ext cx="3057525" cy="92392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457200" y="3429000"/>
            <a:ext cx="3124200" cy="9144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457200" y="4876800"/>
            <a:ext cx="3152775" cy="8572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5" cstate="print"/>
          <a:srcRect/>
          <a:stretch>
            <a:fillRect/>
          </a:stretch>
        </p:blipFill>
        <p:spPr bwMode="auto">
          <a:xfrm>
            <a:off x="4572000" y="1981200"/>
            <a:ext cx="3352800" cy="866775"/>
          </a:xfrm>
          <a:prstGeom prst="rect">
            <a:avLst/>
          </a:prstGeom>
          <a:noFill/>
          <a:ln w="9525">
            <a:noFill/>
            <a:miter lim="800000"/>
            <a:headEnd/>
            <a:tailEnd/>
          </a:ln>
          <a:effectLst/>
        </p:spPr>
      </p:pic>
      <p:pic>
        <p:nvPicPr>
          <p:cNvPr id="1030" name="Picture 6"/>
          <p:cNvPicPr>
            <a:picLocks noChangeAspect="1" noChangeArrowheads="1"/>
          </p:cNvPicPr>
          <p:nvPr/>
        </p:nvPicPr>
        <p:blipFill>
          <a:blip r:embed="rId6" cstate="print"/>
          <a:srcRect/>
          <a:stretch>
            <a:fillRect/>
          </a:stretch>
        </p:blipFill>
        <p:spPr bwMode="auto">
          <a:xfrm>
            <a:off x="4572000" y="3429000"/>
            <a:ext cx="3352800" cy="828675"/>
          </a:xfrm>
          <a:prstGeom prst="rect">
            <a:avLst/>
          </a:prstGeom>
          <a:noFill/>
          <a:ln w="9525">
            <a:noFill/>
            <a:miter lim="800000"/>
            <a:headEnd/>
            <a:tailEnd/>
          </a:ln>
          <a:effectLst/>
        </p:spPr>
      </p:pic>
      <p:pic>
        <p:nvPicPr>
          <p:cNvPr id="1031" name="Picture 7"/>
          <p:cNvPicPr>
            <a:picLocks noChangeAspect="1" noChangeArrowheads="1"/>
          </p:cNvPicPr>
          <p:nvPr/>
        </p:nvPicPr>
        <p:blipFill>
          <a:blip r:embed="rId7" cstate="print"/>
          <a:srcRect/>
          <a:stretch>
            <a:fillRect/>
          </a:stretch>
        </p:blipFill>
        <p:spPr bwMode="auto">
          <a:xfrm>
            <a:off x="4572000" y="4876800"/>
            <a:ext cx="3352800" cy="876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458200" cy="1143000"/>
          </a:xfrm>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System requirements</a:t>
            </a:r>
            <a:endParaRPr lang="en-IN" u="sng" dirty="0">
              <a:latin typeface="Times New Roman" pitchFamily="18" charset="0"/>
              <a:cs typeface="Times New Roman" pitchFamily="18" charset="0"/>
            </a:endParaRPr>
          </a:p>
        </p:txBody>
      </p:sp>
      <p:sp>
        <p:nvSpPr>
          <p:cNvPr id="3" name="Content Placeholder 2"/>
          <p:cNvSpPr>
            <a:spLocks noGrp="1"/>
          </p:cNvSpPr>
          <p:nvPr>
            <p:ph sz="half" idx="1"/>
          </p:nvPr>
        </p:nvSpPr>
        <p:spPr>
          <a:xfrm>
            <a:off x="457200" y="2286000"/>
            <a:ext cx="3810000" cy="3810000"/>
          </a:xfrm>
        </p:spPr>
        <p:style>
          <a:lnRef idx="3">
            <a:schemeClr val="lt1"/>
          </a:lnRef>
          <a:fillRef idx="1">
            <a:schemeClr val="accent1"/>
          </a:fillRef>
          <a:effectRef idx="1">
            <a:schemeClr val="accent1"/>
          </a:effectRef>
          <a:fontRef idx="minor">
            <a:schemeClr val="lt1"/>
          </a:fontRef>
        </p:style>
        <p:txBody>
          <a:bodyPr/>
          <a:lstStyle/>
          <a:p>
            <a:pPr>
              <a:buNone/>
            </a:pPr>
            <a:r>
              <a:rPr lang="en-IN" b="1" u="sng" dirty="0" smtClean="0">
                <a:latin typeface="Times New Roman" pitchFamily="18" charset="0"/>
                <a:cs typeface="Times New Roman" pitchFamily="18" charset="0"/>
              </a:rPr>
              <a:t>SOFTWARE REQUIREMENTS:</a:t>
            </a:r>
          </a:p>
          <a:p>
            <a:pPr>
              <a:buNone/>
            </a:pPr>
            <a:r>
              <a:rPr lang="en-IN" dirty="0" smtClean="0">
                <a:latin typeface="Times New Roman" pitchFamily="18" charset="0"/>
                <a:cs typeface="Times New Roman" pitchFamily="18" charset="0"/>
              </a:rPr>
              <a:t>OS: Windows</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Server: pgadmin 4v4</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Database: PostgreSQL</a:t>
            </a:r>
            <a:endParaRPr lang="en-IN" dirty="0">
              <a:latin typeface="Times New Roman" pitchFamily="18" charset="0"/>
              <a:cs typeface="Times New Roman" pitchFamily="18" charset="0"/>
            </a:endParaRPr>
          </a:p>
        </p:txBody>
      </p:sp>
      <p:sp>
        <p:nvSpPr>
          <p:cNvPr id="4" name="Content Placeholder 3"/>
          <p:cNvSpPr>
            <a:spLocks noGrp="1"/>
          </p:cNvSpPr>
          <p:nvPr>
            <p:ph sz="half" idx="2"/>
          </p:nvPr>
        </p:nvSpPr>
        <p:spPr>
          <a:xfrm>
            <a:off x="4876800" y="2286002"/>
            <a:ext cx="3810000" cy="3809999"/>
          </a:xfrm>
        </p:spPr>
        <p:style>
          <a:lnRef idx="3">
            <a:schemeClr val="lt1"/>
          </a:lnRef>
          <a:fillRef idx="1">
            <a:schemeClr val="accent1"/>
          </a:fillRef>
          <a:effectRef idx="1">
            <a:schemeClr val="accent1"/>
          </a:effectRef>
          <a:fontRef idx="minor">
            <a:schemeClr val="lt1"/>
          </a:fontRef>
        </p:style>
        <p:txBody>
          <a:bodyPr/>
          <a:lstStyle/>
          <a:p>
            <a:pPr>
              <a:buNone/>
            </a:pPr>
            <a:r>
              <a:rPr lang="en-IN" b="1" u="sng" dirty="0" smtClean="0">
                <a:latin typeface="Times New Roman" pitchFamily="18" charset="0"/>
                <a:cs typeface="Times New Roman" pitchFamily="18" charset="0"/>
              </a:rPr>
              <a:t>HARDWARE REQUIREMENTS:</a:t>
            </a:r>
          </a:p>
          <a:p>
            <a:pPr>
              <a:buNone/>
            </a:pPr>
            <a:r>
              <a:rPr lang="en-IN" dirty="0" smtClean="0">
                <a:latin typeface="Times New Roman" pitchFamily="18" charset="0"/>
                <a:cs typeface="Times New Roman" pitchFamily="18" charset="0"/>
              </a:rPr>
              <a:t>Processor: 2.4 GHz</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Hard Disk: 40 GB</a:t>
            </a:r>
          </a:p>
          <a:p>
            <a:pPr>
              <a:buNone/>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RAM: 2 GB</a:t>
            </a:r>
          </a:p>
          <a:p>
            <a:pPr>
              <a:buNone/>
            </a:pPr>
            <a:endParaRPr lang="en-IN" b="1" u="sng" dirty="0" smtClean="0">
              <a:latin typeface="Times New Roman" pitchFamily="18" charset="0"/>
              <a:cs typeface="Times New Roman" pitchFamily="18" charset="0"/>
            </a:endParaRPr>
          </a:p>
          <a:p>
            <a:pPr>
              <a:buNone/>
            </a:pPr>
            <a:endParaRPr lang="en-IN" b="1" u="sng" dirty="0">
              <a:latin typeface="Times New Roman" pitchFamily="18" charset="0"/>
              <a:cs typeface="Times New Roman" pitchFamily="18" charset="0"/>
            </a:endParaRPr>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latin typeface="Times New Roman" pitchFamily="18" charset="0"/>
                <a:cs typeface="Times New Roman" pitchFamily="18" charset="0"/>
              </a:rPr>
              <a:t>Target audience</a:t>
            </a:r>
            <a:endParaRPr lang="en-IN"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1905000"/>
            <a:ext cx="7239000" cy="4550736"/>
          </a:xfrm>
        </p:spPr>
        <p:style>
          <a:lnRef idx="1">
            <a:schemeClr val="dk1"/>
          </a:lnRef>
          <a:fillRef idx="2">
            <a:schemeClr val="dk1"/>
          </a:fillRef>
          <a:effectRef idx="1">
            <a:schemeClr val="dk1"/>
          </a:effectRef>
          <a:fontRef idx="minor">
            <a:schemeClr val="dk1"/>
          </a:fontRef>
        </p:style>
        <p:txBody>
          <a:bodyPr>
            <a:normAutofit/>
          </a:bodyPr>
          <a:lstStyle/>
          <a:p>
            <a:pPr>
              <a:buNone/>
            </a:pPr>
            <a:r>
              <a:rPr lang="en-IN" dirty="0" smtClean="0">
                <a:latin typeface="Times New Roman" pitchFamily="18" charset="0"/>
                <a:cs typeface="Times New Roman" pitchFamily="18" charset="0"/>
              </a:rPr>
              <a:t>Some few examples of entities that can make use of </a:t>
            </a:r>
          </a:p>
          <a:p>
            <a:pPr>
              <a:buNone/>
            </a:pPr>
            <a:r>
              <a:rPr lang="en-IN" dirty="0" smtClean="0">
                <a:latin typeface="Times New Roman" pitchFamily="18" charset="0"/>
                <a:cs typeface="Times New Roman" pitchFamily="18" charset="0"/>
              </a:rPr>
              <a:t>BBMS are:</a:t>
            </a:r>
          </a:p>
          <a:p>
            <a:pPr>
              <a:buNone/>
            </a:pPr>
            <a:endParaRPr lang="en-IN" dirty="0" smtClean="0">
              <a:latin typeface="Times New Roman" pitchFamily="18" charset="0"/>
              <a:cs typeface="Times New Roman" pitchFamily="18" charset="0"/>
            </a:endParaRPr>
          </a:p>
          <a:p>
            <a:pPr marL="514350" indent="-514350">
              <a:buNone/>
            </a:pPr>
            <a:r>
              <a:rPr lang="en-IN" dirty="0" smtClean="0">
                <a:latin typeface="Times New Roman" pitchFamily="18" charset="0"/>
                <a:cs typeface="Times New Roman" pitchFamily="18" charset="0"/>
              </a:rPr>
              <a:t>1) General Public</a:t>
            </a:r>
          </a:p>
          <a:p>
            <a:pPr marL="514350" indent="-514350">
              <a:buAutoNum type="arabicParenR"/>
            </a:pPr>
            <a:endParaRPr lang="en-IN" dirty="0" smtClean="0">
              <a:latin typeface="Times New Roman" pitchFamily="18" charset="0"/>
              <a:cs typeface="Times New Roman" pitchFamily="18" charset="0"/>
            </a:endParaRPr>
          </a:p>
          <a:p>
            <a:pPr marL="514350" indent="-514350">
              <a:buNone/>
            </a:pPr>
            <a:r>
              <a:rPr lang="en-IN" dirty="0" smtClean="0">
                <a:latin typeface="Times New Roman" pitchFamily="18" charset="0"/>
                <a:cs typeface="Times New Roman" pitchFamily="18" charset="0"/>
              </a:rPr>
              <a:t>2) Hospitals</a:t>
            </a:r>
          </a:p>
          <a:p>
            <a:pPr marL="514350" indent="-514350">
              <a:buAutoNum type="arabicParenR" startAt="2"/>
            </a:pPr>
            <a:endParaRPr lang="en-IN" dirty="0" smtClean="0">
              <a:latin typeface="Times New Roman" pitchFamily="18" charset="0"/>
              <a:cs typeface="Times New Roman" pitchFamily="18" charset="0"/>
            </a:endParaRPr>
          </a:p>
          <a:p>
            <a:pPr marL="514350" indent="-514350">
              <a:buNone/>
            </a:pPr>
            <a:r>
              <a:rPr lang="en-IN" dirty="0" smtClean="0">
                <a:latin typeface="Times New Roman" pitchFamily="18" charset="0"/>
                <a:cs typeface="Times New Roman" pitchFamily="18" charset="0"/>
              </a:rPr>
              <a:t>3) Blood Banks</a:t>
            </a:r>
          </a:p>
        </p:txBody>
      </p:sp>
      <p:sp>
        <p:nvSpPr>
          <p:cNvPr id="4" name="Footer Placeholder 3"/>
          <p:cNvSpPr>
            <a:spLocks noGrp="1"/>
          </p:cNvSpPr>
          <p:nvPr>
            <p:ph type="ftr" sz="quarter" idx="11"/>
          </p:nvPr>
        </p:nvSpPr>
        <p:spPr/>
        <p:txBody>
          <a:bodyPr/>
          <a:lstStyle/>
          <a:p>
            <a:r>
              <a:rPr lang="en-US" dirty="0" smtClean="0"/>
              <a:t>DBMS PROJECT </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dk1"/>
          </a:lnRef>
          <a:fillRef idx="2">
            <a:schemeClr val="dk1"/>
          </a:fillRef>
          <a:effectRef idx="1">
            <a:schemeClr val="dk1"/>
          </a:effectRef>
          <a:fontRef idx="minor">
            <a:schemeClr val="dk1"/>
          </a:fontRef>
        </p:style>
        <p:txBody>
          <a:bodyPr/>
          <a:lstStyle/>
          <a:p>
            <a:pPr algn="ctr"/>
            <a:r>
              <a:rPr lang="en-IN" u="sng" dirty="0" smtClean="0">
                <a:solidFill>
                  <a:schemeClr val="bg1"/>
                </a:solidFill>
                <a:latin typeface="Times New Roman" pitchFamily="18" charset="0"/>
                <a:cs typeface="Times New Roman" pitchFamily="18" charset="0"/>
              </a:rPr>
              <a:t>conclusion</a:t>
            </a:r>
            <a:endParaRPr lang="en-IN" u="sng" dirty="0">
              <a:solidFill>
                <a:schemeClr val="bg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981200"/>
            <a:ext cx="7239000" cy="4474536"/>
          </a:xfrm>
        </p:spPr>
        <p:style>
          <a:lnRef idx="1">
            <a:schemeClr val="dk1"/>
          </a:lnRef>
          <a:fillRef idx="2">
            <a:schemeClr val="dk1"/>
          </a:fillRef>
          <a:effectRef idx="1">
            <a:schemeClr val="dk1"/>
          </a:effectRef>
          <a:fontRef idx="minor">
            <a:schemeClr val="dk1"/>
          </a:fontRef>
        </p:style>
        <p:txBody>
          <a:bodyPr>
            <a:normAutofit/>
          </a:bodyPr>
          <a:lstStyle/>
          <a:p>
            <a:pPr>
              <a:buNone/>
            </a:pPr>
            <a:r>
              <a:rPr lang="en-IN" dirty="0" smtClean="0"/>
              <a:t>		</a:t>
            </a:r>
          </a:p>
          <a:p>
            <a:pPr marL="514350" indent="-514350">
              <a:buNone/>
            </a:pPr>
            <a:r>
              <a:rPr lang="en-IN" dirty="0" smtClean="0">
                <a:latin typeface="Times New Roman" pitchFamily="18" charset="0"/>
                <a:cs typeface="Times New Roman" pitchFamily="18" charset="0"/>
              </a:rPr>
              <a:t>1) This reports presents the blood bank related issues</a:t>
            </a:r>
          </a:p>
          <a:p>
            <a:pPr>
              <a:buFont typeface="Courier New" pitchFamily="49" charset="0"/>
              <a:buChar char="o"/>
            </a:pPr>
            <a:endParaRPr lang="en-IN" dirty="0" smtClean="0">
              <a:latin typeface="Times New Roman" pitchFamily="18" charset="0"/>
              <a:cs typeface="Times New Roman" pitchFamily="18" charset="0"/>
            </a:endParaRPr>
          </a:p>
          <a:p>
            <a:pPr marL="514350" indent="-514350">
              <a:buNone/>
            </a:pPr>
            <a:r>
              <a:rPr lang="en-IN" dirty="0" smtClean="0">
                <a:latin typeface="Times New Roman" pitchFamily="18" charset="0"/>
                <a:cs typeface="Times New Roman" pitchFamily="18" charset="0"/>
              </a:rPr>
              <a:t>2) Provided database and models to the system</a:t>
            </a:r>
          </a:p>
          <a:p>
            <a:pPr>
              <a:buFont typeface="Courier New" pitchFamily="49" charset="0"/>
              <a:buChar char="o"/>
            </a:pP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3) Provided solution to manage a blood bank and try to build an architecture using normalisation to avoid confusion</a:t>
            </a:r>
          </a:p>
          <a:p>
            <a:pPr>
              <a:buFont typeface="Courier New" pitchFamily="49" charset="0"/>
              <a:buChar char="o"/>
            </a:pPr>
            <a:endParaRPr lang="en-IN" dirty="0" smtClean="0"/>
          </a:p>
          <a:p>
            <a:pPr>
              <a:buFont typeface="Courier New" pitchFamily="49" charset="0"/>
              <a:buChar char="o"/>
            </a:pPr>
            <a:endParaRPr lang="en-IN" dirty="0" smtClean="0"/>
          </a:p>
          <a:p>
            <a:pPr>
              <a:buFont typeface="Courier New" pitchFamily="49" charset="0"/>
              <a:buChar char="o"/>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dirty="0"/>
          </a:p>
        </p:txBody>
      </p:sp>
      <p:sp>
        <p:nvSpPr>
          <p:cNvPr id="5" name="Footer Placeholder 4"/>
          <p:cNvSpPr>
            <a:spLocks noGrp="1"/>
          </p:cNvSpPr>
          <p:nvPr>
            <p:ph type="ftr" sz="quarter" idx="11"/>
          </p:nvPr>
        </p:nvSpPr>
        <p:spPr/>
        <p:txBody>
          <a:bodyPr/>
          <a:lstStyle/>
          <a:p>
            <a:r>
              <a:rPr lang="en-US" dirty="0" smtClean="0"/>
              <a:t>DBMS PROJECT </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788</TotalTime>
  <Words>763</Words>
  <Application>Microsoft Office PowerPoint</Application>
  <PresentationFormat>On-screen Show (4:3)</PresentationFormat>
  <Paragraphs>187</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Opulent</vt:lpstr>
      <vt:lpstr>Bloodbank  management system</vt:lpstr>
      <vt:lpstr>PLAN OF THE TALK</vt:lpstr>
      <vt:lpstr>introduction</vt:lpstr>
      <vt:lpstr>Problem statement</vt:lpstr>
      <vt:lpstr>solution</vt:lpstr>
      <vt:lpstr>survey</vt:lpstr>
      <vt:lpstr>workflow</vt:lpstr>
      <vt:lpstr>CREATE QUERY</vt:lpstr>
      <vt:lpstr>Slide 9</vt:lpstr>
      <vt:lpstr>rdbms creation</vt:lpstr>
      <vt:lpstr>Rdbms creation</vt:lpstr>
      <vt:lpstr>Er model</vt:lpstr>
      <vt:lpstr>Functional dependencies</vt:lpstr>
      <vt:lpstr>normalization</vt:lpstr>
      <vt:lpstr>normalization</vt:lpstr>
      <vt:lpstr>Table in 2nf</vt:lpstr>
      <vt:lpstr>TABLE IN 2NF</vt:lpstr>
      <vt:lpstr>Table in 3nf</vt:lpstr>
      <vt:lpstr>TABLEs IN 2NF and 3nf  [sample OUTPUT]</vt:lpstr>
      <vt:lpstr>System requirements</vt:lpstr>
      <vt:lpstr>Target audience</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Bloodbank management system</dc:title>
  <dc:creator>GVS-PC</dc:creator>
  <cp:lastModifiedBy>GVS-PC</cp:lastModifiedBy>
  <cp:revision>77</cp:revision>
  <dcterms:created xsi:type="dcterms:W3CDTF">2006-08-16T00:00:00Z</dcterms:created>
  <dcterms:modified xsi:type="dcterms:W3CDTF">2021-02-24T06:53:35Z</dcterms:modified>
</cp:coreProperties>
</file>